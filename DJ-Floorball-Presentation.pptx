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1: INTRO (ca 1 min)]</a:t>
            </a:r>
          </a:p>
          <a:p>
            <a:r>
              <a:t>Hej allihopa och hej läraren!</a:t>
            </a:r>
          </a:p>
          <a:p>
            <a:r>
              <a:t>Idag ska jag presentera mitt projekt i kursen Applikationsutveckling: DJ-Floorball.</a:t>
            </a:r>
          </a:p>
          <a:p>
            <a:r>
              <a:t>Det är en mobilapp byggd med React Native, Expo och TypeScript.</a:t>
            </a:r>
          </a:p>
          <a:p>
            <a:r>
              <a:t>Appen är specifikt framtagen för att lösa ett väldigt konkret problem som uppstår i sekretariatet under innebandymatcher – att styra musiken, måljublet och utvisningarna snabbt, enkelt och utan krångel direkt från mobilen.</a:t>
            </a:r>
          </a:p>
          <a:p>
            <a:r>
              <a:t>Under de kommande 12 minuterna kommer jag visa appen live, gå igenom källkoden och mina moduler, berätta om min arbetsprocess och reflektera över utmaningar och min användning av AI.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2: BAKGRUND (ca 1.5 min)]</a:t>
            </a:r>
          </a:p>
          <a:p>
            <a:r>
              <a:t>Bakgrunden till appen kommer direkt från verkligheten. Alla som suttit i ett sekretariat på en innebandymatch vet hur stressigt det kan vara. Du ska starta och stoppa matchklockan på domarens visselpipa, hålla koll på 2-minutersutvisningar i båsen och samtidigt spela musik.</a:t>
            </a:r>
          </a:p>
          <a:p>
            <a:r>
              <a:t>Ofta sitter man med en dator eller Spotify på mobilen, letar efter en låt och missar att spela mål-låten direkt när bollen går i mål. Dessutom har de flesta låtar ett långt och lugnt intro innan refrängen eller droppet kommer – och då har domaren redan blåst igång spelet igen!</a:t>
            </a:r>
          </a:p>
          <a:p>
            <a:r>
              <a:t>DJ-Floorball löser allt detta: Soundboarden har jättestora knappar för Mål, Utvisning och Paus. Varje låt har sparade cue-points så den startar direkt vid droppet. Och tack vare haptisk vibration känner man i handen att knappen tryckts in även om det dånar i hallen.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3: LIVE DEMO (ca 3 min)]</a:t>
            </a:r>
          </a:p>
          <a:p>
            <a:r>
              <a:t>[HÄR VISAR DU APPEN LIVE PÅ DIN MOBIL I EXPO GO!]</a:t>
            </a:r>
          </a:p>
          <a:p>
            <a:r>
              <a:t>Nu vill jag visa appen i praktiken direkt på min telefon via Expo Go!</a:t>
            </a:r>
          </a:p>
          <a:p>
            <a:r>
              <a:t>1. Titta vad som händer när jag klickar på Soundboard-fliken: appen känner av det och låser skärmen till liggande läge så jag får maximala knappar. Här ser ni Mål, Utvisning och Paus. Trycker jag på Paus hörs musiken och mobilen vibrerar till.</a:t>
            </a:r>
          </a:p>
          <a:p>
            <a:r>
              <a:t>2. När jag byter till Spellistan roterar den sömlöst till stående läge. Här har jag en FlatList med alla inbyggda låtar och filterknappar. Jag kan trycka på 'Importera ljud' så öppnas telefonens dokumentväljare och jag kan välja en egen MP3-fil.</a:t>
            </a:r>
          </a:p>
          <a:p>
            <a:r>
              <a:t>3. Klickar jag in på en låt ser ni detaljvyn. Här har jag ett Slider-reglage där jag kan lyssna och ställa in exakt var låten ska börja – till exempel 24 sekunder in där droppet är. Jag sparar och nu startar den alltid därifrån!</a:t>
            </a:r>
          </a:p>
          <a:p>
            <a:r>
              <a:t>4. Till sist har vi Pausfråga-fliken. Den anropar ett sport-API på nätet och visar en fråga med fyra alternativ. Klickar jag visar den direkt om det var rätt eller fel.</a:t>
            </a:r>
          </a:p>
          <a:p>
            <a:r>
              <a:t>Låt oss nu titta på hur koden är uppbyggd bakom kulisserna!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4: EXPO ROUTER (ca 1 min)]</a:t>
            </a:r>
          </a:p>
          <a:p>
            <a:r>
              <a:t>Ett av grundkraven i inlämningen är att använda Expo Router för navigering, och att minst en skärm ska ta emot en parameter.</a:t>
            </a:r>
          </a:p>
          <a:p>
            <a:r>
              <a:t>I mitt projekt ligger all routing i mappen src/app/. I _layout.tsx definierar jag en Tabs-navigator med mina huvudvyer. För att inte få en ful flik längst ner för detaljvyn satte jag href: null på rutan 'song/[id]'.</a:t>
            </a:r>
          </a:p>
          <a:p>
            <a:r>
              <a:t>När man klickar på en låt i spellistan körs router.push med låtens unika id.</a:t>
            </a:r>
          </a:p>
          <a:p>
            <a:r>
              <a:t>I filen src/app/song/[id].tsx använder jag sedan useLocalSearchParams-hooken för att läsa ut id:t. Med detta id slår jag upp rätt ljudfil – antingen ur mina inbyggda låtar eller bland mina egentillagda låtar i telefonens minne. Det uppfyller navigeringskravet till punkt och pricka.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5: EXPO-AUDIO &amp; EXPO-HAPTICS (ca 1.5 min)]</a:t>
            </a:r>
          </a:p>
          <a:p>
            <a:r>
              <a:t>Nu till mina Expo SDK-moduler som ger tillgång till telefonens funktioner.</a:t>
            </a:r>
          </a:p>
          <a:p>
            <a:r>
              <a:t>Den första och mest centrala är expo-audio. I senaste Expo SDK är det denna modul som gäller, då gamla expo-av inte längre rekommenderas.</a:t>
            </a:r>
          </a:p>
          <a:p>
            <a:r>
              <a:t>Här använder jag useAudioPlayer och useAudioPlayerStatus. När funktionären trycker på en knapp anropar vi handlePlay.</a:t>
            </a:r>
          </a:p>
          <a:p>
            <a:r>
              <a:t>Först körs Haptics.impactAsync från modulen expo-haptics, vilket triggar telefonens fysiska vibrationsmotor. Det är otroligt viktigt i en sporthall där det spelas musik och ropas från läktaren – man får en fysisk bekräftelse i fingret direkt.</a:t>
            </a:r>
          </a:p>
          <a:p>
            <a:r>
              <a:t>Därefter kollar koden om låten har en sparad starttid i AsyncStorage, laddar in ljudkällan med player.replace och spolar direkt dit med player.seekTo. Ljudet startar alltså direkt vid refrängen utan fördröjning!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6: SKÄRMORIENTERING &amp; DOKUMENTVÄLJARE (ca 1.5 min)]</a:t>
            </a:r>
          </a:p>
          <a:p>
            <a:r>
              <a:t>Mina andra två Expo SDK-moduler är expo-screen-orientation och expo-document-picker.</a:t>
            </a:r>
          </a:p>
          <a:p>
            <a:r>
              <a:t>Med expo-screen-orientation kontrollerar jag telefonens skärmläge hårdvarumässigt. På soundboarden vill vi ha liggande läge så att knapparna blir så stora som möjligt och enkla att träffa med tummen i farten. Men på spellistan och frågesporten vill vi ha stående läge för att kunna scrolla bekvämt. Detta styrs i useFocusEffect så att skärmen roteras automatiskt när man byter flik.</a:t>
            </a:r>
          </a:p>
          <a:p>
            <a:r>
              <a:t>Med expo-document-picker ger jag användaren friheten att importera egna ljudfiler direkt från telefonens interna lagring eller moln. Användaren klickar på knappen, väljer en mp3-fil i telefonens filväljare, och appen sparar den som en ny låt i spellistan med ett unikt ID.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7: REACT NATIVE-KOMPONENTER (ca 1 min)]</a:t>
            </a:r>
          </a:p>
          <a:p>
            <a:r>
              <a:t>Kravet för godkänt är att använda minst 4 komponenter från React Native. I mitt projekt använder jag 5 stycken:</a:t>
            </a:r>
          </a:p>
          <a:p>
            <a:r>
              <a:t>View för hela layoutstrukturen och flexbox.</a:t>
            </a:r>
          </a:p>
          <a:p>
            <a:r>
              <a:t>Text för alla låttitlar, knappar och frågor.</a:t>
            </a:r>
          </a:p>
          <a:p>
            <a:r>
              <a:t>Pressable för alla klickbara ytor. Jag valde Pressable framför TouchableOpacity eftersom det är den moderna standarden som ger bättre kontroll över trycktillstånd.</a:t>
            </a:r>
          </a:p>
          <a:p>
            <a:r>
              <a:t>FlatList för spellistan – superviktigt för prestandan så att inte telefonen laggar när man har många låtar.</a:t>
            </a:r>
          </a:p>
          <a:p>
            <a:r>
              <a:t>Och ActivityIndicator, vilket är laddningssnurran i frågesporten.</a:t>
            </a:r>
          </a:p>
          <a:p>
            <a:r>
              <a:t>Jag har noga tänkt på att inte räkna StyleSheet eller Alert som komponenter, eftersom de är API:er. Så här är kravet uppfyllt med god marginal.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8: VG-MODULER &amp; WEB-API (ca 1.5 min)]</a:t>
            </a:r>
          </a:p>
          <a:p>
            <a:r>
              <a:t>För kraven för Väl Godkänt krävs en extern modul från reactnative.directory samt att appen hämtar data från ett Web-API.</a:t>
            </a:r>
          </a:p>
          <a:p>
            <a:r>
              <a:t>Jag har faktiskt använt TVÅ externa moduler från katalogen:</a:t>
            </a:r>
          </a:p>
          <a:p>
            <a:r>
              <a:t>Dels AsyncStorage, som sparar användarens inställningar och sparade starttider lokalt i telefonens permanenta minne.</a:t>
            </a:r>
          </a:p>
          <a:p>
            <a:r>
              <a:t>Dels Community Slider, vilket är det skjutreglage ni såg på låtdetaljskärmen där man drar fingret för att ställa in startsekund.</a:t>
            </a:r>
          </a:p>
          <a:p>
            <a:r>
              <a:t>För Web-API:et har jag byggt en frågesport för periodpauserna i trivia.tsx. Den anropar Open Trivia Database via en vanlig fetch(). Jag hämtar frågor i sportkategorin, avkodar texten, slumpar svarsalternativen och visar laddningssnurran under anropet. Båda VG-kraven är alltså helt uppfyllda.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9: ARBETSPROCESS (ca 1 min)]</a:t>
            </a:r>
          </a:p>
          <a:p>
            <a:r>
              <a:t>Hur har jag lagt upp arbetet?</a:t>
            </a:r>
          </a:p>
          <a:p>
            <a:r>
              <a:t>Jag började med att definiera datamodellen i TypeScript i src/sounds.ts. Eftersom jag visste att ljuden behövde hålla reda på kategorier, källor och starttider ville jag ha stark typning från dag ett.</a:t>
            </a:r>
          </a:p>
          <a:p>
            <a:r>
              <a:t>Jag har kört ett strikt mobile-first-arbetssätt. Istället för att bara titta på webbläsaren har jag haft min mobil kopplad till Expo Go under hela resan. Det är först på en riktig telefon man känner om vibrationerna är lagom starka och hur snabbt skärmrotationen svarar.</a:t>
            </a:r>
          </a:p>
          <a:p>
            <a:r>
              <a:t>När det gäller Git har jag committat löpande allt eftersom funktioner blev klara. Hela historiken finns på GitHub, och vid inlämningen följer .git-mappen med i zip-filen så att läraren kan se hela resan.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10: REFLEKTION (ca 1.5 min)]</a:t>
            </a:r>
          </a:p>
          <a:p>
            <a:r>
              <a:t>I den reflekterande delen av presentationen vill jag vara ärlig med vad som var klurigt.</a:t>
            </a:r>
          </a:p>
          <a:p>
            <a:r>
              <a:t>Den absolut största utmaningen var expo-audio. Det finns nästan inga färdiga tutorials på YouTube eller StackOverflow eftersom modulen är helt ny i SDK 52. Det var särskilt svårt att få player.seekTo att träffa rätt startsekund precis i samma ögonblick som en ny ljudkälla laddades in.</a:t>
            </a:r>
          </a:p>
          <a:p>
            <a:r>
              <a:t>En annan utmaning var skärmrotationen. Om man inte hanterar fokuscykeln rätt kan appen fastna i fel orientering när man klickar mellan flikar.</a:t>
            </a:r>
          </a:p>
          <a:p>
            <a:r>
              <a:t>Om jag skulle bygga om appen idag skulle jag ha skapat en global AudioContext. Just nu pausas musiken när man byter flik, vilket är bra för att inte skapa kaos, men det vore ännu bättre om en DJ kunde bläddra i spellistan medan paussången fortsätter rulla i bakgrunden.</a:t>
            </a:r>
          </a:p>
          <a:p>
            <a:r>
              <a:t>Det viktigaste jag tar med mig är hur mycket bättre en app känns när man använder telefonens nativa funktioner som haptik och lokal lagring.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11: AI-ANVÄNDNING (ca 1 min)]</a:t>
            </a:r>
          </a:p>
          <a:p>
            <a:r>
              <a:t>För VG-kravet kring AI-användning har jag dokumenterat min process noga.</a:t>
            </a:r>
          </a:p>
          <a:p>
            <a:r>
              <a:t>Jag har använt Antigravity som ett bollplank under utvecklingen. Framförallt var det guld värt när jag skulle sätta mig in i den nya expo-audio-modulen, eftersom det sparade timmar av att leta efter uppdaterade kodexempel. Jag använde det också för att diskutera hur man bäst hanterar städning vid flikbyten med useFocusEffect.</a:t>
            </a:r>
          </a:p>
          <a:p>
            <a:r>
              <a:t>Det absolut viktigaste kravet från läraren är att 'AI får skriva, men du måste förstå och verifiera'. Jag har varit extremt noga med att aldrig acceptera kod som jag inte förstår till 100 %. Jag har verifierat allt genom TypeScript-kompilatorn, kört Expo-lintern och testat allt fysiskt på min egen mobil. Jag kan förklara varenda funktion och rad i det här repot.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[TALARNOTIS - SLIDE 12: AVSLUTNING (ca 1 min)]</a:t>
            </a:r>
          </a:p>
          <a:p>
            <a:r>
              <a:t>För att summera:</a:t>
            </a:r>
          </a:p>
          <a:p>
            <a:r>
              <a:t>Projektet uppfyller alla krav för Godkänt – fem React Native-komponenter, fyra rena hårdvarumoduler från Expo SDK, dynamisk Expo Router-navigering, löpande Git-commits och en komplett README.</a:t>
            </a:r>
          </a:p>
          <a:p>
            <a:r>
              <a:t>Det uppfyller också alla tre kraven för Väl Godkänt – två externa paket från reactnative.directory, ett fungerande Web-API som hämtar sportfrågor live, och en tydlig redogörelse för hur AI har använts och verifierats.</a:t>
            </a:r>
          </a:p>
          <a:p>
            <a:r>
              <a:t>Framförallt har jag byggt en app som faktiskt fungerar och som kommer göra livet mycket enklare för alla som sitter i ett innebandysekretariat i vinter!</a:t>
            </a:r>
          </a:p>
          <a:p>
            <a:r>
              <a:t>Tack så jättemycket för att ni lyssnade, och nu svarar jag gärna på frågor från er eller läraren!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1097280"/>
            <a:ext cx="3291840" cy="384048"/>
          </a:xfrm>
          <a:prstGeom prst="roundRect">
            <a:avLst/>
          </a:prstGeom>
          <a:solidFill>
            <a:srgbClr val="142D50"/>
          </a:solidFill>
          <a:ln>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38BDF8"/>
                </a:solidFill>
              </a:defRPr>
            </a:pPr>
            <a:r>
              <a:t>SUVNET25 • INLÄMNING 1</a:t>
            </a:r>
          </a:p>
        </p:txBody>
      </p:sp>
      <p:sp>
        <p:nvSpPr>
          <p:cNvPr id="4" name="TextBox 3"/>
          <p:cNvSpPr txBox="1"/>
          <p:nvPr/>
        </p:nvSpPr>
        <p:spPr>
          <a:xfrm>
            <a:off x="731520" y="1645920"/>
            <a:ext cx="10515600" cy="1463040"/>
          </a:xfrm>
          <a:prstGeom prst="rect">
            <a:avLst/>
          </a:prstGeom>
          <a:noFill/>
        </p:spPr>
        <p:txBody>
          <a:bodyPr wrap="none">
            <a:spAutoFit/>
          </a:bodyPr>
          <a:lstStyle/>
          <a:p>
            <a:pPr>
              <a:defRPr sz="4800" b="1">
                <a:solidFill>
                  <a:srgbClr val="F8FAFC"/>
                </a:solidFill>
                <a:latin typeface="Segoe UI"/>
              </a:defRPr>
            </a:pPr>
            <a:r>
              <a:t>DJ-Floorball 🏑</a:t>
            </a:r>
          </a:p>
          <a:p>
            <a:pPr>
              <a:spcBef>
                <a:spcPts val="800"/>
              </a:spcBef>
              <a:defRPr sz="2200">
                <a:solidFill>
                  <a:srgbClr val="FB923C"/>
                </a:solidFill>
                <a:latin typeface="Segoe UI"/>
              </a:defRPr>
            </a:pPr>
            <a:r>
              <a:t>Mobil match-DJ &amp; soundboard för innebandysekretariatet</a:t>
            </a:r>
          </a:p>
        </p:txBody>
      </p:sp>
      <p:sp>
        <p:nvSpPr>
          <p:cNvPr id="5" name="Rounded Rectangle 4"/>
          <p:cNvSpPr/>
          <p:nvPr/>
        </p:nvSpPr>
        <p:spPr>
          <a:xfrm>
            <a:off x="731520" y="3657600"/>
            <a:ext cx="3291840" cy="2286000"/>
          </a:xfrm>
          <a:prstGeom prst="roundRect">
            <a:avLst/>
          </a:prstGeom>
          <a:solidFill>
            <a:srgbClr val="182138"/>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822192"/>
            <a:ext cx="2926080" cy="1956816"/>
          </a:xfrm>
          <a:prstGeom prst="rect">
            <a:avLst/>
          </a:prstGeom>
          <a:noFill/>
        </p:spPr>
        <p:txBody>
          <a:bodyPr wrap="square">
            <a:spAutoFit/>
          </a:bodyPr>
          <a:lstStyle/>
          <a:p>
            <a:pPr>
              <a:spcAft>
                <a:spcPts val="1000"/>
              </a:spcAft>
              <a:defRPr sz="1800" b="1">
                <a:solidFill>
                  <a:srgbClr val="F8FAFC"/>
                </a:solidFill>
                <a:latin typeface="Segoe UI"/>
              </a:defRPr>
            </a:pPr>
            <a:r>
              <a:t>Teknisk Stack</a:t>
            </a:r>
          </a:p>
          <a:p>
            <a:pPr>
              <a:spcAft>
                <a:spcPts val="800"/>
              </a:spcAft>
            </a:pPr>
            <a:r>
              <a:rPr b="1" sz="1350">
                <a:solidFill>
                  <a:srgbClr val="38BDF8"/>
                </a:solidFill>
                <a:latin typeface="Segoe UI"/>
              </a:rPr>
              <a:t>• </a:t>
            </a:r>
            <a:r>
              <a:rPr b="0" sz="1300">
                <a:solidFill>
                  <a:srgbClr val="CBD5E1"/>
                </a:solidFill>
                <a:latin typeface="Segoe UI"/>
              </a:rPr>
              <a:t>React Native 0.86 &amp; Expo SDK 52</a:t>
            </a:r>
          </a:p>
          <a:p>
            <a:pPr>
              <a:spcAft>
                <a:spcPts val="800"/>
              </a:spcAft>
            </a:pPr>
            <a:r>
              <a:rPr b="1" sz="1350">
                <a:solidFill>
                  <a:srgbClr val="38BDF8"/>
                </a:solidFill>
                <a:latin typeface="Segoe UI"/>
              </a:rPr>
              <a:t>• </a:t>
            </a:r>
            <a:r>
              <a:rPr b="0" sz="1300">
                <a:solidFill>
                  <a:srgbClr val="CBD5E1"/>
                </a:solidFill>
                <a:latin typeface="Segoe UI"/>
              </a:rPr>
              <a:t>TypeScript &amp; Expo Router</a:t>
            </a:r>
          </a:p>
          <a:p>
            <a:pPr>
              <a:spcAft>
                <a:spcPts val="800"/>
              </a:spcAft>
            </a:pPr>
            <a:r>
              <a:rPr b="1" sz="1350">
                <a:solidFill>
                  <a:srgbClr val="38BDF8"/>
                </a:solidFill>
                <a:latin typeface="Segoe UI"/>
              </a:rPr>
              <a:t>• </a:t>
            </a:r>
            <a:r>
              <a:rPr b="0" sz="1300">
                <a:solidFill>
                  <a:srgbClr val="CBD5E1"/>
                </a:solidFill>
                <a:latin typeface="Segoe UI"/>
              </a:rPr>
              <a:t>Community-paket &amp; Web-API</a:t>
            </a:r>
          </a:p>
          <a:p>
            <a:pPr>
              <a:spcAft>
                <a:spcPts val="800"/>
              </a:spcAft>
            </a:pPr>
            <a:r>
              <a:rPr b="1" sz="1350">
                <a:solidFill>
                  <a:srgbClr val="38BDF8"/>
                </a:solidFill>
                <a:latin typeface="Segoe UI"/>
              </a:rPr>
              <a:t>• </a:t>
            </a:r>
            <a:r>
              <a:rPr b="0" sz="1300">
                <a:solidFill>
                  <a:srgbClr val="CBD5E1"/>
                </a:solidFill>
                <a:latin typeface="Segoe UI"/>
              </a:rPr>
              <a:t>Mobile-first hårdvarustyrning</a:t>
            </a:r>
          </a:p>
        </p:txBody>
      </p:sp>
      <p:sp>
        <p:nvSpPr>
          <p:cNvPr id="7" name="Rounded Rectangle 6"/>
          <p:cNvSpPr/>
          <p:nvPr/>
        </p:nvSpPr>
        <p:spPr>
          <a:xfrm>
            <a:off x="4297680" y="3657600"/>
            <a:ext cx="3291840" cy="2286000"/>
          </a:xfrm>
          <a:prstGeom prst="roundRect">
            <a:avLst/>
          </a:prstGeom>
          <a:solidFill>
            <a:srgbClr val="182138"/>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22192"/>
            <a:ext cx="2926080" cy="1956816"/>
          </a:xfrm>
          <a:prstGeom prst="rect">
            <a:avLst/>
          </a:prstGeom>
          <a:noFill/>
        </p:spPr>
        <p:txBody>
          <a:bodyPr wrap="square">
            <a:spAutoFit/>
          </a:bodyPr>
          <a:lstStyle/>
          <a:p>
            <a:pPr>
              <a:spcAft>
                <a:spcPts val="1000"/>
              </a:spcAft>
              <a:defRPr sz="1800" b="1">
                <a:solidFill>
                  <a:srgbClr val="F8FAFC"/>
                </a:solidFill>
                <a:latin typeface="Segoe UI"/>
              </a:defRPr>
            </a:pPr>
            <a:r>
              <a:t>Målgrupp &amp; Syfte</a:t>
            </a:r>
          </a:p>
          <a:p>
            <a:pPr>
              <a:spcAft>
                <a:spcPts val="800"/>
              </a:spcAft>
            </a:pPr>
            <a:r>
              <a:rPr b="1" sz="1350">
                <a:solidFill>
                  <a:srgbClr val="38BDF8"/>
                </a:solidFill>
                <a:latin typeface="Segoe UI"/>
              </a:rPr>
              <a:t>• </a:t>
            </a:r>
            <a:r>
              <a:rPr b="0" sz="1300">
                <a:solidFill>
                  <a:srgbClr val="CBD5E1"/>
                </a:solidFill>
                <a:latin typeface="Segoe UI"/>
              </a:rPr>
              <a:t>Innebandysekretariat &amp; match-DJ:s</a:t>
            </a:r>
          </a:p>
          <a:p>
            <a:pPr>
              <a:spcAft>
                <a:spcPts val="800"/>
              </a:spcAft>
            </a:pPr>
            <a:r>
              <a:rPr b="1" sz="1350">
                <a:solidFill>
                  <a:srgbClr val="38BDF8"/>
                </a:solidFill>
                <a:latin typeface="Segoe UI"/>
              </a:rPr>
              <a:t>• </a:t>
            </a:r>
            <a:r>
              <a:rPr b="0" sz="1300">
                <a:solidFill>
                  <a:srgbClr val="CBD5E1"/>
                </a:solidFill>
                <a:latin typeface="Segoe UI"/>
              </a:rPr>
              <a:t>Tränare, lagledare &amp; föreningar</a:t>
            </a:r>
          </a:p>
          <a:p>
            <a:pPr>
              <a:spcAft>
                <a:spcPts val="800"/>
              </a:spcAft>
            </a:pPr>
            <a:r>
              <a:rPr b="1" sz="1350">
                <a:solidFill>
                  <a:srgbClr val="38BDF8"/>
                </a:solidFill>
                <a:latin typeface="Segoe UI"/>
              </a:rPr>
              <a:t>• </a:t>
            </a:r>
            <a:r>
              <a:rPr b="0" sz="1300">
                <a:solidFill>
                  <a:srgbClr val="CBD5E1"/>
                </a:solidFill>
                <a:latin typeface="Segoe UI"/>
              </a:rPr>
              <a:t>Snabb respons under matchstress</a:t>
            </a:r>
          </a:p>
          <a:p>
            <a:pPr>
              <a:spcAft>
                <a:spcPts val="800"/>
              </a:spcAft>
            </a:pPr>
            <a:r>
              <a:rPr b="1" sz="1350">
                <a:solidFill>
                  <a:srgbClr val="38BDF8"/>
                </a:solidFill>
                <a:latin typeface="Segoe UI"/>
              </a:rPr>
              <a:t>• </a:t>
            </a:r>
            <a:r>
              <a:rPr b="0" sz="1300">
                <a:solidFill>
                  <a:srgbClr val="CBD5E1"/>
                </a:solidFill>
                <a:latin typeface="Segoe UI"/>
              </a:rPr>
              <a:t>Full kontroll direkt i mobilen</a:t>
            </a:r>
          </a:p>
        </p:txBody>
      </p:sp>
      <p:sp>
        <p:nvSpPr>
          <p:cNvPr id="9" name="Rounded Rectangle 8"/>
          <p:cNvSpPr/>
          <p:nvPr/>
        </p:nvSpPr>
        <p:spPr>
          <a:xfrm>
            <a:off x="7863840" y="3657600"/>
            <a:ext cx="3566160" cy="2286000"/>
          </a:xfrm>
          <a:prstGeom prst="roundRect">
            <a:avLst/>
          </a:prstGeom>
          <a:solidFill>
            <a:srgbClr val="182138"/>
          </a:solidFill>
          <a:ln w="1905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3822192"/>
            <a:ext cx="3200400" cy="1956816"/>
          </a:xfrm>
          <a:prstGeom prst="rect">
            <a:avLst/>
          </a:prstGeom>
          <a:noFill/>
        </p:spPr>
        <p:txBody>
          <a:bodyPr wrap="square">
            <a:spAutoFit/>
          </a:bodyPr>
          <a:lstStyle/>
          <a:p>
            <a:pPr>
              <a:spcAft>
                <a:spcPts val="1000"/>
              </a:spcAft>
              <a:defRPr sz="1800" b="1">
                <a:solidFill>
                  <a:srgbClr val="F8FAFC"/>
                </a:solidFill>
                <a:latin typeface="Segoe UI"/>
              </a:defRPr>
            </a:pPr>
            <a:r>
              <a:t>Om Redovisningen</a:t>
            </a:r>
          </a:p>
          <a:p>
            <a:pPr>
              <a:spcAft>
                <a:spcPts val="800"/>
              </a:spcAft>
            </a:pPr>
            <a:r>
              <a:rPr b="1" sz="1350">
                <a:solidFill>
                  <a:srgbClr val="38BDF8"/>
                </a:solidFill>
                <a:latin typeface="Segoe UI"/>
              </a:rPr>
              <a:t>• </a:t>
            </a:r>
            <a:r>
              <a:rPr b="0" sz="1300">
                <a:solidFill>
                  <a:srgbClr val="CBD5E1"/>
                </a:solidFill>
                <a:latin typeface="Segoe UI"/>
              </a:rPr>
              <a:t>Tid: ca 12 minuters presentation</a:t>
            </a:r>
          </a:p>
          <a:p>
            <a:pPr>
              <a:spcAft>
                <a:spcPts val="800"/>
              </a:spcAft>
            </a:pPr>
            <a:r>
              <a:rPr b="1" sz="1350">
                <a:solidFill>
                  <a:srgbClr val="38BDF8"/>
                </a:solidFill>
                <a:latin typeface="Segoe UI"/>
              </a:rPr>
              <a:t>• </a:t>
            </a:r>
            <a:r>
              <a:rPr b="0" sz="1300">
                <a:solidFill>
                  <a:srgbClr val="CBD5E1"/>
                </a:solidFill>
                <a:latin typeface="Segoe UI"/>
              </a:rPr>
              <a:t>Live-körning av appen i Expo Go</a:t>
            </a:r>
          </a:p>
          <a:p>
            <a:pPr>
              <a:spcAft>
                <a:spcPts val="800"/>
              </a:spcAft>
            </a:pPr>
            <a:r>
              <a:rPr b="1" sz="1350">
                <a:solidFill>
                  <a:srgbClr val="38BDF8"/>
                </a:solidFill>
                <a:latin typeface="Segoe UI"/>
              </a:rPr>
              <a:t>• </a:t>
            </a:r>
            <a:r>
              <a:rPr b="0" sz="1300">
                <a:solidFill>
                  <a:srgbClr val="CBD5E1"/>
                </a:solidFill>
                <a:latin typeface="Segoe UI"/>
              </a:rPr>
              <a:t>Genomgång av 4 Expo SDK-moduler</a:t>
            </a:r>
          </a:p>
          <a:p>
            <a:pPr>
              <a:spcAft>
                <a:spcPts val="800"/>
              </a:spcAft>
            </a:pPr>
            <a:r>
              <a:rPr b="1" sz="1350">
                <a:solidFill>
                  <a:srgbClr val="38BDF8"/>
                </a:solidFill>
                <a:latin typeface="Segoe UI"/>
              </a:rPr>
              <a:t>• </a:t>
            </a:r>
            <a:r>
              <a:rPr b="0" sz="1300">
                <a:solidFill>
                  <a:srgbClr val="CBD5E1"/>
                </a:solidFill>
                <a:latin typeface="Segoe UI"/>
              </a:rPr>
              <a:t>Kravuppfyllnad för Både G &amp; VG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20040"/>
          </a:xfrm>
          <a:prstGeom prst="rect">
            <a:avLst/>
          </a:prstGeom>
          <a:noFill/>
        </p:spPr>
        <p:txBody>
          <a:bodyPr wrap="square">
            <a:spAutoFit/>
          </a:bodyPr>
          <a:lstStyle/>
          <a:p>
            <a:pPr>
              <a:defRPr sz="1100" b="1">
                <a:solidFill>
                  <a:srgbClr val="FB923C"/>
                </a:solidFill>
                <a:latin typeface="Segoe UI"/>
              </a:defRPr>
            </a:pPr>
            <a:r>
              <a:t>BAKGRUND &amp; PROBLEMFORMULERING</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8FAFC"/>
                </a:solidFill>
                <a:latin typeface="Segoe UI"/>
              </a:defRPr>
            </a:pPr>
            <a:r>
              <a:t>Varför behövdes DJ-Floorball?</a:t>
            </a:r>
          </a:p>
        </p:txBody>
      </p:sp>
      <p:sp>
        <p:nvSpPr>
          <p:cNvPr id="5" name="TextBox 4"/>
          <p:cNvSpPr txBox="1"/>
          <p:nvPr/>
        </p:nvSpPr>
        <p:spPr>
          <a:xfrm>
            <a:off x="731520" y="1298448"/>
            <a:ext cx="10515600" cy="365760"/>
          </a:xfrm>
          <a:prstGeom prst="rect">
            <a:avLst/>
          </a:prstGeom>
          <a:noFill/>
        </p:spPr>
        <p:txBody>
          <a:bodyPr wrap="square">
            <a:spAutoFit/>
          </a:bodyPr>
          <a:lstStyle/>
          <a:p>
            <a:pPr>
              <a:defRPr sz="1400">
                <a:solidFill>
                  <a:srgbClr val="94A3B8"/>
                </a:solidFill>
                <a:latin typeface="Segoe UI"/>
              </a:defRPr>
            </a:pPr>
            <a:r>
              <a:t>Stressen i sekretariatet och hur en mobilapp löser problemet</a:t>
            </a:r>
          </a:p>
        </p:txBody>
      </p:sp>
      <p:sp>
        <p:nvSpPr>
          <p:cNvPr id="6" name="Rounded Rectangle 5"/>
          <p:cNvSpPr/>
          <p:nvPr/>
        </p:nvSpPr>
        <p:spPr>
          <a:xfrm>
            <a:off x="731520" y="1828800"/>
            <a:ext cx="5120640" cy="4389120"/>
          </a:xfrm>
          <a:prstGeom prst="roundRect">
            <a:avLst/>
          </a:prstGeom>
          <a:solidFill>
            <a:srgbClr val="182138"/>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93392"/>
            <a:ext cx="4754880" cy="4059936"/>
          </a:xfrm>
          <a:prstGeom prst="rect">
            <a:avLst/>
          </a:prstGeom>
          <a:noFill/>
        </p:spPr>
        <p:txBody>
          <a:bodyPr wrap="square">
            <a:spAutoFit/>
          </a:bodyPr>
          <a:lstStyle/>
          <a:p>
            <a:pPr>
              <a:spcAft>
                <a:spcPts val="1000"/>
              </a:spcAft>
              <a:defRPr sz="1800" b="1">
                <a:solidFill>
                  <a:srgbClr val="F8FAFC"/>
                </a:solidFill>
                <a:latin typeface="Segoe UI"/>
              </a:defRPr>
            </a:pPr>
            <a:r>
              <a:t>Problemet under match</a:t>
            </a:r>
          </a:p>
          <a:p>
            <a:pPr>
              <a:spcAft>
                <a:spcPts val="800"/>
              </a:spcAft>
            </a:pPr>
            <a:r>
              <a:rPr b="1" sz="1350">
                <a:solidFill>
                  <a:srgbClr val="38BDF8"/>
                </a:solidFill>
                <a:latin typeface="Segoe UI"/>
              </a:rPr>
              <a:t>Stressfylld miljö: </a:t>
            </a:r>
            <a:r>
              <a:rPr b="0" sz="1300">
                <a:solidFill>
                  <a:srgbClr val="CBD5E1"/>
                </a:solidFill>
                <a:latin typeface="Segoe UI"/>
              </a:rPr>
              <a:t>I sekretariatet ska man hålla koll på matchklockan, domarens signaler, utvisningar och föra matchprotokoll samtidigt.</a:t>
            </a:r>
          </a:p>
          <a:p>
            <a:pPr>
              <a:spcAft>
                <a:spcPts val="800"/>
              </a:spcAft>
            </a:pPr>
            <a:r>
              <a:rPr b="1" sz="1350">
                <a:solidFill>
                  <a:srgbClr val="38BDF8"/>
                </a:solidFill>
                <a:latin typeface="Segoe UI"/>
              </a:rPr>
              <a:t>Klumpiga verktyg: </a:t>
            </a:r>
            <a:r>
              <a:rPr b="0" sz="1300">
                <a:solidFill>
                  <a:srgbClr val="CBD5E1"/>
                </a:solidFill>
                <a:latin typeface="Segoe UI"/>
              </a:rPr>
              <a:t>Idag sitter man ofta med en laptop eller Spotify i mobilen där man måste leta fram låtar och manuellt dra i tidsreglage.</a:t>
            </a:r>
          </a:p>
          <a:p>
            <a:pPr>
              <a:spcAft>
                <a:spcPts val="800"/>
              </a:spcAft>
            </a:pPr>
            <a:r>
              <a:rPr b="1" sz="1350">
                <a:solidFill>
                  <a:srgbClr val="38BDF8"/>
                </a:solidFill>
                <a:latin typeface="Segoe UI"/>
              </a:rPr>
              <a:t>Missade ögonblick: </a:t>
            </a:r>
            <a:r>
              <a:rPr b="0" sz="1300">
                <a:solidFill>
                  <a:srgbClr val="CBD5E1"/>
                </a:solidFill>
                <a:latin typeface="Segoe UI"/>
              </a:rPr>
              <a:t>När det blir mål eller utvisning måste musiken igång på en halv sekund. Med vanliga spelare missar man ofta droppet eller råkar spela fel.</a:t>
            </a:r>
          </a:p>
          <a:p>
            <a:pPr>
              <a:spcAft>
                <a:spcPts val="800"/>
              </a:spcAft>
            </a:pPr>
            <a:r>
              <a:rPr b="1" sz="1350">
                <a:solidFill>
                  <a:srgbClr val="38BDF8"/>
                </a:solidFill>
                <a:latin typeface="Segoe UI"/>
              </a:rPr>
              <a:t>Hög ljudvolym: </a:t>
            </a:r>
            <a:r>
              <a:rPr b="0" sz="1300">
                <a:solidFill>
                  <a:srgbClr val="CBD5E1"/>
                </a:solidFill>
                <a:latin typeface="Segoe UI"/>
              </a:rPr>
              <a:t>I sporthallar med publik är det svårt att veta om ett klick faktiskt registrerades på skärmen.</a:t>
            </a:r>
          </a:p>
        </p:txBody>
      </p:sp>
      <p:sp>
        <p:nvSpPr>
          <p:cNvPr id="8" name="Rounded Rectangle 7"/>
          <p:cNvSpPr/>
          <p:nvPr/>
        </p:nvSpPr>
        <p:spPr>
          <a:xfrm>
            <a:off x="6217920" y="1828800"/>
            <a:ext cx="5212080" cy="4389120"/>
          </a:xfrm>
          <a:prstGeom prst="roundRect">
            <a:avLst/>
          </a:prstGeom>
          <a:solidFill>
            <a:srgbClr val="182138"/>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93392"/>
            <a:ext cx="4846320" cy="4059936"/>
          </a:xfrm>
          <a:prstGeom prst="rect">
            <a:avLst/>
          </a:prstGeom>
          <a:noFill/>
        </p:spPr>
        <p:txBody>
          <a:bodyPr wrap="square">
            <a:spAutoFit/>
          </a:bodyPr>
          <a:lstStyle/>
          <a:p>
            <a:pPr>
              <a:spcAft>
                <a:spcPts val="1000"/>
              </a:spcAft>
              <a:defRPr sz="1800" b="1">
                <a:solidFill>
                  <a:srgbClr val="F8FAFC"/>
                </a:solidFill>
                <a:latin typeface="Segoe UI"/>
              </a:defRPr>
            </a:pPr>
            <a:r>
              <a:t>Lösningen: DJ-Floorball</a:t>
            </a:r>
          </a:p>
          <a:p>
            <a:pPr>
              <a:spcAft>
                <a:spcPts val="800"/>
              </a:spcAft>
            </a:pPr>
            <a:r>
              <a:rPr b="1" sz="1350">
                <a:solidFill>
                  <a:srgbClr val="38BDF8"/>
                </a:solidFill>
                <a:latin typeface="Segoe UI"/>
              </a:rPr>
              <a:t>Maximerade knappar: </a:t>
            </a:r>
            <a:r>
              <a:rPr b="0" sz="1300">
                <a:solidFill>
                  <a:srgbClr val="CBD5E1"/>
                </a:solidFill>
                <a:latin typeface="Segoe UI"/>
              </a:rPr>
              <a:t>Körs i liggande läge på Soundboarden med gigantiska färgkodade knappar för Mål, Utvisning och Paus.</a:t>
            </a:r>
          </a:p>
          <a:p>
            <a:pPr>
              <a:spcAft>
                <a:spcPts val="800"/>
              </a:spcAft>
            </a:pPr>
            <a:r>
              <a:rPr b="1" sz="1350">
                <a:solidFill>
                  <a:srgbClr val="38BDF8"/>
                </a:solidFill>
                <a:latin typeface="Segoe UI"/>
              </a:rPr>
              <a:t>Automatisk kö: </a:t>
            </a:r>
            <a:r>
              <a:rPr b="0" sz="1300">
                <a:solidFill>
                  <a:srgbClr val="CBD5E1"/>
                </a:solidFill>
                <a:latin typeface="Segoe UI"/>
              </a:rPr>
              <a:t>Håller reda på vilken pauslåt som är aktuell, vilken som är näst på tur och sparar senaste låten i minnet.</a:t>
            </a:r>
          </a:p>
          <a:p>
            <a:pPr>
              <a:spcAft>
                <a:spcPts val="800"/>
              </a:spcAft>
            </a:pPr>
            <a:r>
              <a:rPr b="1" sz="1350">
                <a:solidFill>
                  <a:srgbClr val="38BDF8"/>
                </a:solidFill>
                <a:latin typeface="Segoe UI"/>
              </a:rPr>
              <a:t>Cue-points (Starttider): </a:t>
            </a:r>
            <a:r>
              <a:rPr b="0" sz="1300">
                <a:solidFill>
                  <a:srgbClr val="CBD5E1"/>
                </a:solidFill>
                <a:latin typeface="Segoe UI"/>
              </a:rPr>
              <a:t>Varje låt kan ha en förinställd startsekund sparad så att musiken dundrar igång direkt vid refrängen/droppet!</a:t>
            </a:r>
          </a:p>
          <a:p>
            <a:pPr>
              <a:spcAft>
                <a:spcPts val="800"/>
              </a:spcAft>
            </a:pPr>
            <a:r>
              <a:rPr b="1" sz="1350">
                <a:solidFill>
                  <a:srgbClr val="38BDF8"/>
                </a:solidFill>
                <a:latin typeface="Segoe UI"/>
              </a:rPr>
              <a:t>Haptisk feedback: </a:t>
            </a:r>
            <a:r>
              <a:rPr b="0" sz="1300">
                <a:solidFill>
                  <a:srgbClr val="CBD5E1"/>
                </a:solidFill>
                <a:latin typeface="Segoe UI"/>
              </a:rPr>
              <a:t>Mobilen vibrerar distinkt vid varje tryck – funktionären känner direkt att kommandot tog.</a:t>
            </a:r>
          </a:p>
          <a:p>
            <a:pPr>
              <a:spcAft>
                <a:spcPts val="800"/>
              </a:spcAft>
            </a:pPr>
            <a:r>
              <a:rPr b="1" sz="1350">
                <a:solidFill>
                  <a:srgbClr val="38BDF8"/>
                </a:solidFill>
                <a:latin typeface="Segoe UI"/>
              </a:rPr>
              <a:t>Paus-underhållning: </a:t>
            </a:r>
            <a:r>
              <a:rPr b="0" sz="1300">
                <a:solidFill>
                  <a:srgbClr val="CBD5E1"/>
                </a:solidFill>
                <a:latin typeface="Segoe UI"/>
              </a:rPr>
              <a:t>Inbyggt sportquiz som hämtar frågor live från internet för periodpauserna.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20040"/>
          </a:xfrm>
          <a:prstGeom prst="rect">
            <a:avLst/>
          </a:prstGeom>
          <a:noFill/>
        </p:spPr>
        <p:txBody>
          <a:bodyPr wrap="square">
            <a:spAutoFit/>
          </a:bodyPr>
          <a:lstStyle/>
          <a:p>
            <a:pPr>
              <a:defRPr sz="1100" b="1">
                <a:solidFill>
                  <a:srgbClr val="34D399"/>
                </a:solidFill>
                <a:latin typeface="Segoe UI"/>
              </a:defRPr>
            </a:pPr>
            <a:r>
              <a:t>APPLIKATIONEN I AKTION</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8FAFC"/>
                </a:solidFill>
                <a:latin typeface="Segoe UI"/>
              </a:defRPr>
            </a:pPr>
            <a:r>
              <a:t>Översikt &amp; Live-Demo</a:t>
            </a:r>
          </a:p>
        </p:txBody>
      </p:sp>
      <p:sp>
        <p:nvSpPr>
          <p:cNvPr id="5" name="TextBox 4"/>
          <p:cNvSpPr txBox="1"/>
          <p:nvPr/>
        </p:nvSpPr>
        <p:spPr>
          <a:xfrm>
            <a:off x="731520" y="1298448"/>
            <a:ext cx="10515600" cy="365760"/>
          </a:xfrm>
          <a:prstGeom prst="rect">
            <a:avLst/>
          </a:prstGeom>
          <a:noFill/>
        </p:spPr>
        <p:txBody>
          <a:bodyPr wrap="square">
            <a:spAutoFit/>
          </a:bodyPr>
          <a:lstStyle/>
          <a:p>
            <a:pPr>
              <a:defRPr sz="1400">
                <a:solidFill>
                  <a:srgbClr val="94A3B8"/>
                </a:solidFill>
                <a:latin typeface="Segoe UI"/>
              </a:defRPr>
            </a:pPr>
            <a:r>
              <a:t>En komplett genomgång av appens fyra huvuddelar (Visas live på mobilen)</a:t>
            </a:r>
          </a:p>
        </p:txBody>
      </p:sp>
      <p:sp>
        <p:nvSpPr>
          <p:cNvPr id="6" name="Rounded Rectangle 5"/>
          <p:cNvSpPr/>
          <p:nvPr/>
        </p:nvSpPr>
        <p:spPr>
          <a:xfrm>
            <a:off x="731520" y="1828800"/>
            <a:ext cx="5120640" cy="2103120"/>
          </a:xfrm>
          <a:prstGeom prst="roundRect">
            <a:avLst/>
          </a:prstGeom>
          <a:solidFill>
            <a:srgbClr val="182138"/>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93392"/>
            <a:ext cx="4754880" cy="1773936"/>
          </a:xfrm>
          <a:prstGeom prst="rect">
            <a:avLst/>
          </a:prstGeom>
          <a:noFill/>
        </p:spPr>
        <p:txBody>
          <a:bodyPr wrap="square">
            <a:spAutoFit/>
          </a:bodyPr>
          <a:lstStyle/>
          <a:p>
            <a:pPr>
              <a:spcAft>
                <a:spcPts val="1000"/>
              </a:spcAft>
              <a:defRPr sz="1800" b="1">
                <a:solidFill>
                  <a:srgbClr val="F8FAFC"/>
                </a:solidFill>
                <a:latin typeface="Segoe UI"/>
              </a:defRPr>
            </a:pPr>
            <a:r>
              <a:t>1. Soundboard (Liggande)</a:t>
            </a:r>
          </a:p>
          <a:p>
            <a:pPr>
              <a:spcAft>
                <a:spcPts val="800"/>
              </a:spcAft>
            </a:pPr>
            <a:r>
              <a:rPr b="1" sz="1350">
                <a:solidFill>
                  <a:srgbClr val="38BDF8"/>
                </a:solidFill>
                <a:latin typeface="Segoe UI"/>
              </a:rPr>
              <a:t>• </a:t>
            </a:r>
            <a:r>
              <a:rPr b="0" sz="1300">
                <a:solidFill>
                  <a:srgbClr val="CBD5E1"/>
                </a:solidFill>
                <a:latin typeface="Segoe UI"/>
              </a:rPr>
              <a:t>Låser automatiskt telefonen till liggande läge.</a:t>
            </a:r>
          </a:p>
          <a:p>
            <a:pPr>
              <a:spcAft>
                <a:spcPts val="800"/>
              </a:spcAft>
            </a:pPr>
            <a:r>
              <a:rPr b="1" sz="1350">
                <a:solidFill>
                  <a:srgbClr val="38BDF8"/>
                </a:solidFill>
                <a:latin typeface="Segoe UI"/>
              </a:rPr>
              <a:t>• </a:t>
            </a:r>
            <a:r>
              <a:rPr b="0" sz="1300">
                <a:solidFill>
                  <a:srgbClr val="CBD5E1"/>
                </a:solidFill>
                <a:latin typeface="Segoe UI"/>
              </a:rPr>
              <a:t>Stora knappar: Mål (grön), Utvisning (röd), Paus (blå).</a:t>
            </a:r>
          </a:p>
          <a:p>
            <a:pPr>
              <a:spcAft>
                <a:spcPts val="800"/>
              </a:spcAft>
            </a:pPr>
            <a:r>
              <a:rPr b="1" sz="1350">
                <a:solidFill>
                  <a:srgbClr val="38BDF8"/>
                </a:solidFill>
                <a:latin typeface="Segoe UI"/>
              </a:rPr>
              <a:t>• </a:t>
            </a:r>
            <a:r>
              <a:rPr b="0" sz="1300">
                <a:solidFill>
                  <a:srgbClr val="CBD5E1"/>
                </a:solidFill>
                <a:latin typeface="Segoe UI"/>
              </a:rPr>
              <a:t>Visar aktuell låt och låter användaren stega i kön.</a:t>
            </a:r>
          </a:p>
          <a:p>
            <a:pPr>
              <a:spcAft>
                <a:spcPts val="800"/>
              </a:spcAft>
            </a:pPr>
            <a:r>
              <a:rPr b="1" sz="1350">
                <a:solidFill>
                  <a:srgbClr val="38BDF8"/>
                </a:solidFill>
                <a:latin typeface="Segoe UI"/>
              </a:rPr>
              <a:t>• </a:t>
            </a:r>
            <a:r>
              <a:rPr b="0" sz="1300">
                <a:solidFill>
                  <a:srgbClr val="CBD5E1"/>
                </a:solidFill>
                <a:latin typeface="Segoe UI"/>
              </a:rPr>
              <a:t>Haptisk bekräftelse vid varje knapptryck.</a:t>
            </a:r>
          </a:p>
        </p:txBody>
      </p:sp>
      <p:sp>
        <p:nvSpPr>
          <p:cNvPr id="8" name="Rounded Rectangle 7"/>
          <p:cNvSpPr/>
          <p:nvPr/>
        </p:nvSpPr>
        <p:spPr>
          <a:xfrm>
            <a:off x="6217920" y="1828800"/>
            <a:ext cx="5212080" cy="2103120"/>
          </a:xfrm>
          <a:prstGeom prst="roundRect">
            <a:avLst/>
          </a:prstGeom>
          <a:solidFill>
            <a:srgbClr val="182138"/>
          </a:solidFill>
          <a:ln w="1905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93392"/>
            <a:ext cx="4846320" cy="1773936"/>
          </a:xfrm>
          <a:prstGeom prst="rect">
            <a:avLst/>
          </a:prstGeom>
          <a:noFill/>
        </p:spPr>
        <p:txBody>
          <a:bodyPr wrap="square">
            <a:spAutoFit/>
          </a:bodyPr>
          <a:lstStyle/>
          <a:p>
            <a:pPr>
              <a:spcAft>
                <a:spcPts val="1000"/>
              </a:spcAft>
              <a:defRPr sz="1800" b="1">
                <a:solidFill>
                  <a:srgbClr val="F8FAFC"/>
                </a:solidFill>
                <a:latin typeface="Segoe UI"/>
              </a:defRPr>
            </a:pPr>
            <a:r>
              <a:t>2. Spellista (Stående)</a:t>
            </a:r>
          </a:p>
          <a:p>
            <a:pPr>
              <a:spcAft>
                <a:spcPts val="800"/>
              </a:spcAft>
            </a:pPr>
            <a:r>
              <a:rPr b="1" sz="1350">
                <a:solidFill>
                  <a:srgbClr val="38BDF8"/>
                </a:solidFill>
                <a:latin typeface="Segoe UI"/>
              </a:rPr>
              <a:t>• </a:t>
            </a:r>
            <a:r>
              <a:rPr b="0" sz="1300">
                <a:solidFill>
                  <a:srgbClr val="CBD5E1"/>
                </a:solidFill>
                <a:latin typeface="Segoe UI"/>
              </a:rPr>
              <a:t>Roterar automatiskt till stående läge.</a:t>
            </a:r>
          </a:p>
          <a:p>
            <a:pPr>
              <a:spcAft>
                <a:spcPts val="800"/>
              </a:spcAft>
            </a:pPr>
            <a:r>
              <a:rPr b="1" sz="1350">
                <a:solidFill>
                  <a:srgbClr val="38BDF8"/>
                </a:solidFill>
                <a:latin typeface="Segoe UI"/>
              </a:rPr>
              <a:t>• </a:t>
            </a:r>
            <a:r>
              <a:rPr b="0" sz="1300">
                <a:solidFill>
                  <a:srgbClr val="CBD5E1"/>
                </a:solidFill>
                <a:latin typeface="Segoe UI"/>
              </a:rPr>
              <a:t>Filterflikar: Alla, Paus, Mål, Utvisning.</a:t>
            </a:r>
          </a:p>
          <a:p>
            <a:pPr>
              <a:spcAft>
                <a:spcPts val="800"/>
              </a:spcAft>
            </a:pPr>
            <a:r>
              <a:rPr b="1" sz="1350">
                <a:solidFill>
                  <a:srgbClr val="38BDF8"/>
                </a:solidFill>
                <a:latin typeface="Segoe UI"/>
              </a:rPr>
              <a:t>• </a:t>
            </a:r>
            <a:r>
              <a:rPr b="0" sz="1300">
                <a:solidFill>
                  <a:srgbClr val="CBD5E1"/>
                </a:solidFill>
                <a:latin typeface="Segoe UI"/>
              </a:rPr>
              <a:t>FlatList med optimerad prestanda för många låtar.</a:t>
            </a:r>
          </a:p>
          <a:p>
            <a:pPr>
              <a:spcAft>
                <a:spcPts val="800"/>
              </a:spcAft>
            </a:pPr>
            <a:r>
              <a:rPr b="1" sz="1350">
                <a:solidFill>
                  <a:srgbClr val="38BDF8"/>
                </a:solidFill>
                <a:latin typeface="Segoe UI"/>
              </a:rPr>
              <a:t>• </a:t>
            </a:r>
            <a:r>
              <a:rPr b="0" sz="1300">
                <a:solidFill>
                  <a:srgbClr val="CBD5E1"/>
                </a:solidFill>
                <a:latin typeface="Segoe UI"/>
              </a:rPr>
              <a:t>Importknapp för att lägga till egna MP3-ljudfiler.</a:t>
            </a:r>
          </a:p>
        </p:txBody>
      </p:sp>
      <p:sp>
        <p:nvSpPr>
          <p:cNvPr id="10" name="Rounded Rectangle 9"/>
          <p:cNvSpPr/>
          <p:nvPr/>
        </p:nvSpPr>
        <p:spPr>
          <a:xfrm>
            <a:off x="731520" y="4114800"/>
            <a:ext cx="5120640" cy="2103120"/>
          </a:xfrm>
          <a:prstGeom prst="roundRect">
            <a:avLst/>
          </a:prstGeom>
          <a:solidFill>
            <a:srgbClr val="182138"/>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4279392"/>
            <a:ext cx="4754880" cy="1773936"/>
          </a:xfrm>
          <a:prstGeom prst="rect">
            <a:avLst/>
          </a:prstGeom>
          <a:noFill/>
        </p:spPr>
        <p:txBody>
          <a:bodyPr wrap="square">
            <a:spAutoFit/>
          </a:bodyPr>
          <a:lstStyle/>
          <a:p>
            <a:pPr>
              <a:spcAft>
                <a:spcPts val="1000"/>
              </a:spcAft>
              <a:defRPr sz="1800" b="1">
                <a:solidFill>
                  <a:srgbClr val="F8FAFC"/>
                </a:solidFill>
                <a:latin typeface="Segoe UI"/>
              </a:defRPr>
            </a:pPr>
            <a:r>
              <a:t>3. Cue-points &amp; Detaljer</a:t>
            </a:r>
          </a:p>
          <a:p>
            <a:pPr>
              <a:spcAft>
                <a:spcPts val="800"/>
              </a:spcAft>
            </a:pPr>
            <a:r>
              <a:rPr b="1" sz="1350">
                <a:solidFill>
                  <a:srgbClr val="38BDF8"/>
                </a:solidFill>
                <a:latin typeface="Segoe UI"/>
              </a:rPr>
              <a:t>• </a:t>
            </a:r>
            <a:r>
              <a:rPr b="0" sz="1300">
                <a:solidFill>
                  <a:srgbClr val="CBD5E1"/>
                </a:solidFill>
                <a:latin typeface="Segoe UI"/>
              </a:rPr>
              <a:t>Klicka på en låt för att öppna detaljvyn via Expo Router.</a:t>
            </a:r>
          </a:p>
          <a:p>
            <a:pPr>
              <a:spcAft>
                <a:spcPts val="800"/>
              </a:spcAft>
            </a:pPr>
            <a:r>
              <a:rPr b="1" sz="1350">
                <a:solidFill>
                  <a:srgbClr val="38BDF8"/>
                </a:solidFill>
                <a:latin typeface="Segoe UI"/>
              </a:rPr>
              <a:t>• </a:t>
            </a:r>
            <a:r>
              <a:rPr b="0" sz="1300">
                <a:solidFill>
                  <a:srgbClr val="CBD5E1"/>
                </a:solidFill>
                <a:latin typeface="Segoe UI"/>
              </a:rPr>
              <a:t>Testlyssna och spola 10 sek fram/bakåt.</a:t>
            </a:r>
          </a:p>
          <a:p>
            <a:pPr>
              <a:spcAft>
                <a:spcPts val="800"/>
              </a:spcAft>
            </a:pPr>
            <a:r>
              <a:rPr b="1" sz="1350">
                <a:solidFill>
                  <a:srgbClr val="38BDF8"/>
                </a:solidFill>
                <a:latin typeface="Segoe UI"/>
              </a:rPr>
              <a:t>• </a:t>
            </a:r>
            <a:r>
              <a:rPr b="0" sz="1300">
                <a:solidFill>
                  <a:srgbClr val="CBD5E1"/>
                </a:solidFill>
                <a:latin typeface="Segoe UI"/>
              </a:rPr>
              <a:t>Skjutreglage (Slider) för exakt startsekund.</a:t>
            </a:r>
          </a:p>
          <a:p>
            <a:pPr>
              <a:spcAft>
                <a:spcPts val="800"/>
              </a:spcAft>
            </a:pPr>
            <a:r>
              <a:rPr b="1" sz="1350">
                <a:solidFill>
                  <a:srgbClr val="38BDF8"/>
                </a:solidFill>
                <a:latin typeface="Segoe UI"/>
              </a:rPr>
              <a:t>• </a:t>
            </a:r>
            <a:r>
              <a:rPr b="0" sz="1300">
                <a:solidFill>
                  <a:srgbClr val="CBD5E1"/>
                </a:solidFill>
                <a:latin typeface="Segoe UI"/>
              </a:rPr>
              <a:t>Sparar inställningen permanent i telefonens minne.</a:t>
            </a:r>
          </a:p>
        </p:txBody>
      </p:sp>
      <p:sp>
        <p:nvSpPr>
          <p:cNvPr id="12" name="Rounded Rectangle 11"/>
          <p:cNvSpPr/>
          <p:nvPr/>
        </p:nvSpPr>
        <p:spPr>
          <a:xfrm>
            <a:off x="6217920" y="4114800"/>
            <a:ext cx="5212080" cy="2103120"/>
          </a:xfrm>
          <a:prstGeom prst="roundRect">
            <a:avLst/>
          </a:prstGeom>
          <a:solidFill>
            <a:srgbClr val="182138"/>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4279392"/>
            <a:ext cx="4846320" cy="1773936"/>
          </a:xfrm>
          <a:prstGeom prst="rect">
            <a:avLst/>
          </a:prstGeom>
          <a:noFill/>
        </p:spPr>
        <p:txBody>
          <a:bodyPr wrap="square">
            <a:spAutoFit/>
          </a:bodyPr>
          <a:lstStyle/>
          <a:p>
            <a:pPr>
              <a:spcAft>
                <a:spcPts val="1000"/>
              </a:spcAft>
              <a:defRPr sz="1800" b="1">
                <a:solidFill>
                  <a:srgbClr val="F8FAFC"/>
                </a:solidFill>
                <a:latin typeface="Segoe UI"/>
              </a:defRPr>
            </a:pPr>
            <a:r>
              <a:t>4. Paus-quiz (Web-API)</a:t>
            </a:r>
          </a:p>
          <a:p>
            <a:pPr>
              <a:spcAft>
                <a:spcPts val="800"/>
              </a:spcAft>
            </a:pPr>
            <a:r>
              <a:rPr b="1" sz="1350">
                <a:solidFill>
                  <a:srgbClr val="38BDF8"/>
                </a:solidFill>
                <a:latin typeface="Segoe UI"/>
              </a:rPr>
              <a:t>• </a:t>
            </a:r>
            <a:r>
              <a:rPr b="0" sz="1300">
                <a:solidFill>
                  <a:srgbClr val="CBD5E1"/>
                </a:solidFill>
                <a:latin typeface="Segoe UI"/>
              </a:rPr>
              <a:t>Hämtar sportfrågor via Open Trivia Database API.</a:t>
            </a:r>
          </a:p>
          <a:p>
            <a:pPr>
              <a:spcAft>
                <a:spcPts val="800"/>
              </a:spcAft>
            </a:pPr>
            <a:r>
              <a:rPr b="1" sz="1350">
                <a:solidFill>
                  <a:srgbClr val="38BDF8"/>
                </a:solidFill>
                <a:latin typeface="Segoe UI"/>
              </a:rPr>
              <a:t>• </a:t>
            </a:r>
            <a:r>
              <a:rPr b="0" sz="1300">
                <a:solidFill>
                  <a:srgbClr val="CBD5E1"/>
                </a:solidFill>
                <a:latin typeface="Segoe UI"/>
              </a:rPr>
              <a:t>Interaktiva knappar med färgmarkering för rätt/fel svar.</a:t>
            </a:r>
          </a:p>
          <a:p>
            <a:pPr>
              <a:spcAft>
                <a:spcPts val="800"/>
              </a:spcAft>
            </a:pPr>
            <a:r>
              <a:rPr b="1" sz="1350">
                <a:solidFill>
                  <a:srgbClr val="38BDF8"/>
                </a:solidFill>
                <a:latin typeface="Segoe UI"/>
              </a:rPr>
              <a:t>• </a:t>
            </a:r>
            <a:r>
              <a:rPr b="0" sz="1300">
                <a:solidFill>
                  <a:srgbClr val="CBD5E1"/>
                </a:solidFill>
                <a:latin typeface="Segoe UI"/>
              </a:rPr>
              <a:t>ActivityIndicator som laddar nästa fråga asynkront.</a:t>
            </a:r>
          </a:p>
          <a:p>
            <a:pPr>
              <a:spcAft>
                <a:spcPts val="800"/>
              </a:spcAft>
            </a:pPr>
            <a:r>
              <a:rPr b="1" sz="1350">
                <a:solidFill>
                  <a:srgbClr val="38BDF8"/>
                </a:solidFill>
                <a:latin typeface="Segoe UI"/>
              </a:rPr>
              <a:t>• </a:t>
            </a:r>
            <a:r>
              <a:rPr b="0" sz="1300">
                <a:solidFill>
                  <a:srgbClr val="CBD5E1"/>
                </a:solidFill>
                <a:latin typeface="Segoe UI"/>
              </a:rPr>
              <a:t>Perfekt underhållning under 10-minuterspauserna!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20040"/>
          </a:xfrm>
          <a:prstGeom prst="rect">
            <a:avLst/>
          </a:prstGeom>
          <a:noFill/>
        </p:spPr>
        <p:txBody>
          <a:bodyPr wrap="square">
            <a:spAutoFit/>
          </a:bodyPr>
          <a:lstStyle/>
          <a:p>
            <a:pPr>
              <a:defRPr sz="1100" b="1">
                <a:solidFill>
                  <a:srgbClr val="38BDF8"/>
                </a:solidFill>
                <a:latin typeface="Segoe UI"/>
              </a:defRPr>
            </a:pPr>
            <a:r>
              <a:t>NAVIGERING &amp; ROUTING (KRAV)</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8FAFC"/>
                </a:solidFill>
                <a:latin typeface="Segoe UI"/>
              </a:defRPr>
            </a:pPr>
            <a:r>
              <a:t>Expo Router &amp; Dynamiska Parametrar</a:t>
            </a:r>
          </a:p>
        </p:txBody>
      </p:sp>
      <p:sp>
        <p:nvSpPr>
          <p:cNvPr id="5" name="TextBox 4"/>
          <p:cNvSpPr txBox="1"/>
          <p:nvPr/>
        </p:nvSpPr>
        <p:spPr>
          <a:xfrm>
            <a:off x="731520" y="1298448"/>
            <a:ext cx="10515600" cy="365760"/>
          </a:xfrm>
          <a:prstGeom prst="rect">
            <a:avLst/>
          </a:prstGeom>
          <a:noFill/>
        </p:spPr>
        <p:txBody>
          <a:bodyPr wrap="square">
            <a:spAutoFit/>
          </a:bodyPr>
          <a:lstStyle/>
          <a:p>
            <a:pPr>
              <a:defRPr sz="1400">
                <a:solidFill>
                  <a:srgbClr val="94A3B8"/>
                </a:solidFill>
                <a:latin typeface="Segoe UI"/>
              </a:defRPr>
            </a:pPr>
            <a:r>
              <a:t>Filbaserad routing med parametrering i src/app/</a:t>
            </a:r>
          </a:p>
        </p:txBody>
      </p:sp>
      <p:sp>
        <p:nvSpPr>
          <p:cNvPr id="6" name="Rounded Rectangle 5"/>
          <p:cNvSpPr/>
          <p:nvPr/>
        </p:nvSpPr>
        <p:spPr>
          <a:xfrm>
            <a:off x="731520" y="1828800"/>
            <a:ext cx="4937760" cy="4389120"/>
          </a:xfrm>
          <a:prstGeom prst="roundRect">
            <a:avLst/>
          </a:prstGeom>
          <a:solidFill>
            <a:srgbClr val="182138"/>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93392"/>
            <a:ext cx="4572000" cy="4059936"/>
          </a:xfrm>
          <a:prstGeom prst="rect">
            <a:avLst/>
          </a:prstGeom>
          <a:noFill/>
        </p:spPr>
        <p:txBody>
          <a:bodyPr wrap="square">
            <a:spAutoFit/>
          </a:bodyPr>
          <a:lstStyle/>
          <a:p>
            <a:pPr>
              <a:spcAft>
                <a:spcPts val="1000"/>
              </a:spcAft>
              <a:defRPr sz="1800" b="1">
                <a:solidFill>
                  <a:srgbClr val="F8FAFC"/>
                </a:solidFill>
                <a:latin typeface="Segoe UI"/>
              </a:defRPr>
            </a:pPr>
            <a:r>
              <a:t>Hur navigeringen fungerar</a:t>
            </a:r>
          </a:p>
          <a:p>
            <a:pPr>
              <a:spcAft>
                <a:spcPts val="800"/>
              </a:spcAft>
            </a:pPr>
            <a:r>
              <a:rPr b="1" sz="1350">
                <a:solidFill>
                  <a:srgbClr val="38BDF8"/>
                </a:solidFill>
                <a:latin typeface="Segoe UI"/>
              </a:rPr>
              <a:t>Expo Router: </a:t>
            </a:r>
            <a:r>
              <a:rPr b="0" sz="1300">
                <a:solidFill>
                  <a:srgbClr val="CBD5E1"/>
                </a:solidFill>
                <a:latin typeface="Segoe UI"/>
              </a:rPr>
              <a:t>Appen använder Expos moderna filbaserade router enligt lärarens krav.</a:t>
            </a:r>
          </a:p>
          <a:p>
            <a:pPr>
              <a:spcAft>
                <a:spcPts val="800"/>
              </a:spcAft>
            </a:pPr>
            <a:r>
              <a:rPr b="1" sz="1350">
                <a:solidFill>
                  <a:srgbClr val="38BDF8"/>
                </a:solidFill>
                <a:latin typeface="Segoe UI"/>
              </a:rPr>
              <a:t>Fliklayout (_layout.tsx): </a:t>
            </a:r>
            <a:r>
              <a:rPr b="0" sz="1300">
                <a:solidFill>
                  <a:srgbClr val="CBD5E1"/>
                </a:solidFill>
                <a:latin typeface="Segoe UI"/>
              </a:rPr>
              <a:t>En Tabs-navigator styr hela appens flöde (Soundboard, Spellista, Trivia). Fliken song/[id] döljs i menyn med href: null.</a:t>
            </a:r>
          </a:p>
          <a:p>
            <a:pPr>
              <a:spcAft>
                <a:spcPts val="800"/>
              </a:spcAft>
            </a:pPr>
            <a:r>
              <a:rPr b="1" sz="1350">
                <a:solidFill>
                  <a:srgbClr val="38BDF8"/>
                </a:solidFill>
                <a:latin typeface="Segoe UI"/>
              </a:rPr>
              <a:t>Dynamisk parameter (G-krav): </a:t>
            </a:r>
            <a:r>
              <a:rPr b="0" sz="1300">
                <a:solidFill>
                  <a:srgbClr val="CBD5E1"/>
                </a:solidFill>
                <a:latin typeface="Segoe UI"/>
              </a:rPr>
              <a:t>När man trycker på en låt i spellistan navigerar appen till /song/${item.id}.</a:t>
            </a:r>
          </a:p>
          <a:p>
            <a:pPr>
              <a:spcAft>
                <a:spcPts val="800"/>
              </a:spcAft>
            </a:pPr>
            <a:r>
              <a:rPr b="1" sz="1350">
                <a:solidFill>
                  <a:srgbClr val="38BDF8"/>
                </a:solidFill>
                <a:latin typeface="Segoe UI"/>
              </a:rPr>
              <a:t>useLocalSearchParams: </a:t>
            </a:r>
            <a:r>
              <a:rPr b="0" sz="1300">
                <a:solidFill>
                  <a:srgbClr val="CBD5E1"/>
                </a:solidFill>
                <a:latin typeface="Segoe UI"/>
              </a:rPr>
              <a:t>I song/[id].tsx hämtas id ut som en URL-parameter för att slå upp rätt ljudfil och sparad cue-point.</a:t>
            </a:r>
          </a:p>
          <a:p>
            <a:pPr>
              <a:spcAft>
                <a:spcPts val="800"/>
              </a:spcAft>
            </a:pPr>
            <a:r>
              <a:rPr b="1" sz="1350">
                <a:solidFill>
                  <a:srgbClr val="38BDF8"/>
                </a:solidFill>
                <a:latin typeface="Segoe UI"/>
              </a:rPr>
              <a:t>Ingen modul-dubbelräkning: </a:t>
            </a:r>
            <a:r>
              <a:rPr b="0" sz="1300">
                <a:solidFill>
                  <a:srgbClr val="CBD5E1"/>
                </a:solidFill>
                <a:latin typeface="Segoe UI"/>
              </a:rPr>
              <a:t>Expo Router räknas helt separat från mina fyra Expo SDK-moduler enligt instruktionen.</a:t>
            </a:r>
          </a:p>
        </p:txBody>
      </p:sp>
      <p:pic>
        <p:nvPicPr>
          <p:cNvPr id="8" name="Picture 7" descr="code_router.png"/>
          <p:cNvPicPr>
            <a:picLocks noChangeAspect="1"/>
          </p:cNvPicPr>
          <p:nvPr/>
        </p:nvPicPr>
        <p:blipFill>
          <a:blip r:embed="rId2"/>
          <a:stretch>
            <a:fillRect/>
          </a:stretch>
        </p:blipFill>
        <p:spPr>
          <a:xfrm>
            <a:off x="5943600" y="1828800"/>
            <a:ext cx="5486400" cy="1882106"/>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20040"/>
          </a:xfrm>
          <a:prstGeom prst="rect">
            <a:avLst/>
          </a:prstGeom>
          <a:noFill/>
        </p:spPr>
        <p:txBody>
          <a:bodyPr wrap="square">
            <a:spAutoFit/>
          </a:bodyPr>
          <a:lstStyle/>
          <a:p>
            <a:pPr>
              <a:defRPr sz="1100" b="1">
                <a:solidFill>
                  <a:srgbClr val="34D399"/>
                </a:solidFill>
                <a:latin typeface="Segoe UI"/>
              </a:defRPr>
            </a:pPr>
            <a:r>
              <a:t>EXPO SDK MODULER 1 &amp; 2</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8FAFC"/>
                </a:solidFill>
                <a:latin typeface="Segoe UI"/>
              </a:defRPr>
            </a:pPr>
            <a:r>
              <a:t>expo-audio &amp; expo-haptics</a:t>
            </a:r>
          </a:p>
        </p:txBody>
      </p:sp>
      <p:sp>
        <p:nvSpPr>
          <p:cNvPr id="5" name="TextBox 4"/>
          <p:cNvSpPr txBox="1"/>
          <p:nvPr/>
        </p:nvSpPr>
        <p:spPr>
          <a:xfrm>
            <a:off x="731520" y="1298448"/>
            <a:ext cx="10515600" cy="365760"/>
          </a:xfrm>
          <a:prstGeom prst="rect">
            <a:avLst/>
          </a:prstGeom>
          <a:noFill/>
        </p:spPr>
        <p:txBody>
          <a:bodyPr wrap="square">
            <a:spAutoFit/>
          </a:bodyPr>
          <a:lstStyle/>
          <a:p>
            <a:pPr>
              <a:defRPr sz="1400">
                <a:solidFill>
                  <a:srgbClr val="94A3B8"/>
                </a:solidFill>
                <a:latin typeface="Segoe UI"/>
              </a:defRPr>
            </a:pPr>
            <a:r>
              <a:t>Hårdvarunära mediaspelare och taktil feedback under match</a:t>
            </a:r>
          </a:p>
        </p:txBody>
      </p:sp>
      <p:sp>
        <p:nvSpPr>
          <p:cNvPr id="6" name="Rounded Rectangle 5"/>
          <p:cNvSpPr/>
          <p:nvPr/>
        </p:nvSpPr>
        <p:spPr>
          <a:xfrm>
            <a:off x="731520" y="1828800"/>
            <a:ext cx="4937760" cy="4389120"/>
          </a:xfrm>
          <a:prstGeom prst="roundRect">
            <a:avLst/>
          </a:prstGeom>
          <a:solidFill>
            <a:srgbClr val="182138"/>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93392"/>
            <a:ext cx="4572000" cy="4059936"/>
          </a:xfrm>
          <a:prstGeom prst="rect">
            <a:avLst/>
          </a:prstGeom>
          <a:noFill/>
        </p:spPr>
        <p:txBody>
          <a:bodyPr wrap="square">
            <a:spAutoFit/>
          </a:bodyPr>
          <a:lstStyle/>
          <a:p>
            <a:pPr>
              <a:spcAft>
                <a:spcPts val="1000"/>
              </a:spcAft>
              <a:defRPr sz="1800" b="1">
                <a:solidFill>
                  <a:srgbClr val="F8FAFC"/>
                </a:solidFill>
                <a:latin typeface="Segoe UI"/>
              </a:defRPr>
            </a:pPr>
            <a:r>
              <a:t>Telefonens hårdvarufunktioner</a:t>
            </a:r>
          </a:p>
          <a:p>
            <a:pPr>
              <a:spcAft>
                <a:spcPts val="800"/>
              </a:spcAft>
            </a:pPr>
            <a:r>
              <a:rPr b="1" sz="1350">
                <a:solidFill>
                  <a:srgbClr val="38BDF8"/>
                </a:solidFill>
                <a:latin typeface="Segoe UI"/>
              </a:rPr>
              <a:t>Modul 1: expo-audio: </a:t>
            </a:r>
            <a:r>
              <a:rPr b="0" sz="1300">
                <a:solidFill>
                  <a:srgbClr val="CBD5E1"/>
                </a:solidFill>
                <a:latin typeface="Segoe UI"/>
              </a:rPr>
              <a:t>Den helt nya ljudmodulen i Expo SDK 52 (ersätter äldre expo-av).</a:t>
            </a:r>
          </a:p>
          <a:p>
            <a:pPr>
              <a:spcAft>
                <a:spcPts val="800"/>
              </a:spcAft>
            </a:pPr>
            <a:r>
              <a:rPr b="1" sz="1350">
                <a:solidFill>
                  <a:srgbClr val="38BDF8"/>
                </a:solidFill>
                <a:latin typeface="Segoe UI"/>
              </a:rPr>
              <a:t>useAudioPlayer(): </a:t>
            </a:r>
            <a:r>
              <a:rPr b="0" sz="1300">
                <a:solidFill>
                  <a:srgbClr val="CBD5E1"/>
                </a:solidFill>
                <a:latin typeface="Segoe UI"/>
              </a:rPr>
              <a:t>Styr ljudspelaren reaktivt i React Native utan onödig om-rendering.</a:t>
            </a:r>
          </a:p>
          <a:p>
            <a:pPr>
              <a:spcAft>
                <a:spcPts val="800"/>
              </a:spcAft>
            </a:pPr>
            <a:r>
              <a:rPr b="1" sz="1350">
                <a:solidFill>
                  <a:srgbClr val="38BDF8"/>
                </a:solidFill>
                <a:latin typeface="Segoe UI"/>
              </a:rPr>
              <a:t>Sömlösa Cue-points: </a:t>
            </a:r>
            <a:r>
              <a:rPr b="0" sz="1300">
                <a:solidFill>
                  <a:srgbClr val="CBD5E1"/>
                </a:solidFill>
                <a:latin typeface="Segoe UI"/>
              </a:rPr>
              <a:t>player.replace() laddar ljudkällan och player.seekTo(startTime) spolar blixtsnabbt till startsekunden.</a:t>
            </a:r>
          </a:p>
          <a:p>
            <a:pPr>
              <a:spcAft>
                <a:spcPts val="800"/>
              </a:spcAft>
            </a:pPr>
            <a:r>
              <a:rPr b="1" sz="1350">
                <a:solidFill>
                  <a:srgbClr val="38BDF8"/>
                </a:solidFill>
                <a:latin typeface="Segoe UI"/>
              </a:rPr>
              <a:t>useFocusEffect(): </a:t>
            </a:r>
            <a:r>
              <a:rPr b="0" sz="1300">
                <a:solidFill>
                  <a:srgbClr val="CBD5E1"/>
                </a:solidFill>
                <a:latin typeface="Segoe UI"/>
              </a:rPr>
              <a:t>När användaren byter flik pausas ljudet automatiskt så att det inte fortsätter spela i bakgrunden oavsiktligt.</a:t>
            </a:r>
          </a:p>
          <a:p>
            <a:pPr>
              <a:spcAft>
                <a:spcPts val="800"/>
              </a:spcAft>
            </a:pPr>
            <a:r>
              <a:rPr b="1" sz="1350">
                <a:solidFill>
                  <a:srgbClr val="38BDF8"/>
                </a:solidFill>
                <a:latin typeface="Segoe UI"/>
              </a:rPr>
              <a:t>Modul 2: expo-haptics: </a:t>
            </a:r>
            <a:r>
              <a:rPr b="0" sz="1300">
                <a:solidFill>
                  <a:srgbClr val="CBD5E1"/>
                </a:solidFill>
                <a:latin typeface="Segoe UI"/>
              </a:rPr>
              <a:t>Styr telefonens inbyggda Taptic Engine / vibrationsmotor.</a:t>
            </a:r>
          </a:p>
          <a:p>
            <a:pPr>
              <a:spcAft>
                <a:spcPts val="800"/>
              </a:spcAft>
            </a:pPr>
            <a:r>
              <a:rPr b="1" sz="1350">
                <a:solidFill>
                  <a:srgbClr val="38BDF8"/>
                </a:solidFill>
                <a:latin typeface="Segoe UI"/>
              </a:rPr>
              <a:t>Haptics.impactAsync: </a:t>
            </a:r>
            <a:r>
              <a:rPr b="0" sz="1300">
                <a:solidFill>
                  <a:srgbClr val="CBD5E1"/>
                </a:solidFill>
                <a:latin typeface="Segoe UI"/>
              </a:rPr>
              <a:t>Ger ett distinkt klick i fingret vid knapptryck – funktionären känner att kommandot tog trots larm i hallen.</a:t>
            </a:r>
          </a:p>
        </p:txBody>
      </p:sp>
      <p:pic>
        <p:nvPicPr>
          <p:cNvPr id="8" name="Picture 7" descr="code_audio.png"/>
          <p:cNvPicPr>
            <a:picLocks noChangeAspect="1"/>
          </p:cNvPicPr>
          <p:nvPr/>
        </p:nvPicPr>
        <p:blipFill>
          <a:blip r:embed="rId2"/>
          <a:stretch>
            <a:fillRect/>
          </a:stretch>
        </p:blipFill>
        <p:spPr>
          <a:xfrm>
            <a:off x="5943600" y="1828800"/>
            <a:ext cx="5486400" cy="31496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20040"/>
          </a:xfrm>
          <a:prstGeom prst="rect">
            <a:avLst/>
          </a:prstGeom>
          <a:noFill/>
        </p:spPr>
        <p:txBody>
          <a:bodyPr wrap="square">
            <a:spAutoFit/>
          </a:bodyPr>
          <a:lstStyle/>
          <a:p>
            <a:pPr>
              <a:defRPr sz="1100" b="1">
                <a:solidFill>
                  <a:srgbClr val="FB923C"/>
                </a:solidFill>
                <a:latin typeface="Segoe UI"/>
              </a:defRPr>
            </a:pPr>
            <a:r>
              <a:t>EXPO SDK MODULER 3 &amp; 4</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8FAFC"/>
                </a:solidFill>
                <a:latin typeface="Segoe UI"/>
              </a:defRPr>
            </a:pPr>
            <a:r>
              <a:t>expo-screen-orientation &amp; expo-document-picker</a:t>
            </a:r>
          </a:p>
        </p:txBody>
      </p:sp>
      <p:sp>
        <p:nvSpPr>
          <p:cNvPr id="5" name="TextBox 4"/>
          <p:cNvSpPr txBox="1"/>
          <p:nvPr/>
        </p:nvSpPr>
        <p:spPr>
          <a:xfrm>
            <a:off x="731520" y="1298448"/>
            <a:ext cx="10515600" cy="365760"/>
          </a:xfrm>
          <a:prstGeom prst="rect">
            <a:avLst/>
          </a:prstGeom>
          <a:noFill/>
        </p:spPr>
        <p:txBody>
          <a:bodyPr wrap="square">
            <a:spAutoFit/>
          </a:bodyPr>
          <a:lstStyle/>
          <a:p>
            <a:pPr>
              <a:defRPr sz="1400">
                <a:solidFill>
                  <a:srgbClr val="94A3B8"/>
                </a:solidFill>
                <a:latin typeface="Segoe UI"/>
              </a:defRPr>
            </a:pPr>
            <a:r>
              <a:t>Hårdvaruorientering och import av egna filer från filsystemet</a:t>
            </a:r>
          </a:p>
        </p:txBody>
      </p:sp>
      <p:sp>
        <p:nvSpPr>
          <p:cNvPr id="6" name="Rounded Rectangle 5"/>
          <p:cNvSpPr/>
          <p:nvPr/>
        </p:nvSpPr>
        <p:spPr>
          <a:xfrm>
            <a:off x="731520" y="1828800"/>
            <a:ext cx="4937760" cy="4389120"/>
          </a:xfrm>
          <a:prstGeom prst="roundRect">
            <a:avLst/>
          </a:prstGeom>
          <a:solidFill>
            <a:srgbClr val="182138"/>
          </a:solidFill>
          <a:ln w="1905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93392"/>
            <a:ext cx="4572000" cy="4059936"/>
          </a:xfrm>
          <a:prstGeom prst="rect">
            <a:avLst/>
          </a:prstGeom>
          <a:noFill/>
        </p:spPr>
        <p:txBody>
          <a:bodyPr wrap="square">
            <a:spAutoFit/>
          </a:bodyPr>
          <a:lstStyle/>
          <a:p>
            <a:pPr>
              <a:spcAft>
                <a:spcPts val="1000"/>
              </a:spcAft>
              <a:defRPr sz="1800" b="1">
                <a:solidFill>
                  <a:srgbClr val="F8FAFC"/>
                </a:solidFill>
                <a:latin typeface="Segoe UI"/>
              </a:defRPr>
            </a:pPr>
            <a:r>
              <a:t>Telefonens hårdvarufunktioner</a:t>
            </a:r>
          </a:p>
          <a:p>
            <a:pPr>
              <a:spcAft>
                <a:spcPts val="800"/>
              </a:spcAft>
            </a:pPr>
            <a:r>
              <a:rPr b="1" sz="1350">
                <a:solidFill>
                  <a:srgbClr val="38BDF8"/>
                </a:solidFill>
                <a:latin typeface="Segoe UI"/>
              </a:rPr>
              <a:t>Modul 3: expo-screen-orientation: </a:t>
            </a:r>
            <a:r>
              <a:rPr b="0" sz="1300">
                <a:solidFill>
                  <a:srgbClr val="CBD5E1"/>
                </a:solidFill>
                <a:latin typeface="Segoe UI"/>
              </a:rPr>
              <a:t>Ger direkt åtkomst till enhetens orienteringssensor och displayläge.</a:t>
            </a:r>
          </a:p>
          <a:p>
            <a:pPr>
              <a:spcAft>
                <a:spcPts val="800"/>
              </a:spcAft>
            </a:pPr>
            <a:r>
              <a:rPr b="1" sz="1350">
                <a:solidFill>
                  <a:srgbClr val="38BDF8"/>
                </a:solidFill>
                <a:latin typeface="Segoe UI"/>
              </a:rPr>
              <a:t>Automatisk rotation: </a:t>
            </a:r>
            <a:r>
              <a:rPr b="0" sz="1300">
                <a:solidFill>
                  <a:srgbClr val="CBD5E1"/>
                </a:solidFill>
                <a:latin typeface="Segoe UI"/>
              </a:rPr>
              <a:t>Soundboard låses till LANDSCAPE för att ge jättestora knappar. Spellista och Trivia låses till PORTRAIT_UP.</a:t>
            </a:r>
          </a:p>
          <a:p>
            <a:pPr>
              <a:spcAft>
                <a:spcPts val="800"/>
              </a:spcAft>
            </a:pPr>
            <a:r>
              <a:rPr b="1" sz="1350">
                <a:solidFill>
                  <a:srgbClr val="38BDF8"/>
                </a:solidFill>
                <a:latin typeface="Segoe UI"/>
              </a:rPr>
              <a:t>useFocusEffect: </a:t>
            </a:r>
            <a:r>
              <a:rPr b="0" sz="1300">
                <a:solidFill>
                  <a:srgbClr val="CBD5E1"/>
                </a:solidFill>
                <a:latin typeface="Segoe UI"/>
              </a:rPr>
              <a:t>Kopplat till sidornas fokuscykel så rotationen sker direkt och mjukt när användaren växlar mellan flikar.</a:t>
            </a:r>
          </a:p>
          <a:p>
            <a:pPr>
              <a:spcAft>
                <a:spcPts val="800"/>
              </a:spcAft>
            </a:pPr>
            <a:r>
              <a:rPr b="1" sz="1350">
                <a:solidFill>
                  <a:srgbClr val="38BDF8"/>
                </a:solidFill>
                <a:latin typeface="Segoe UI"/>
              </a:rPr>
              <a:t>Modul 4: expo-document-picker: </a:t>
            </a:r>
            <a:r>
              <a:rPr b="0" sz="1300">
                <a:solidFill>
                  <a:srgbClr val="CBD5E1"/>
                </a:solidFill>
                <a:latin typeface="Segoe UI"/>
              </a:rPr>
              <a:t>Öppnar mobilens nativa systemfilväljare (iCloud Files / Android Storage).</a:t>
            </a:r>
          </a:p>
          <a:p>
            <a:pPr>
              <a:spcAft>
                <a:spcPts val="800"/>
              </a:spcAft>
            </a:pPr>
            <a:r>
              <a:rPr b="1" sz="1350">
                <a:solidFill>
                  <a:srgbClr val="38BDF8"/>
                </a:solidFill>
                <a:latin typeface="Segoe UI"/>
              </a:rPr>
              <a:t>Egna ljudfiler: </a:t>
            </a:r>
            <a:r>
              <a:rPr b="0" sz="1300">
                <a:solidFill>
                  <a:srgbClr val="CBD5E1"/>
                </a:solidFill>
                <a:latin typeface="Segoe UI"/>
              </a:rPr>
              <a:t>Funktionären kan plocka föreningens egna introlåtar eller jingles och lägga till i spellistan i realtid!</a:t>
            </a:r>
          </a:p>
          <a:p>
            <a:pPr>
              <a:spcAft>
                <a:spcPts val="800"/>
              </a:spcAft>
            </a:pPr>
            <a:r>
              <a:rPr b="1" sz="1350">
                <a:solidFill>
                  <a:srgbClr val="38BDF8"/>
                </a:solidFill>
                <a:latin typeface="Segoe UI"/>
              </a:rPr>
              <a:t>Kopiering till cache: </a:t>
            </a:r>
            <a:r>
              <a:rPr b="0" sz="1300">
                <a:solidFill>
                  <a:srgbClr val="CBD5E1"/>
                </a:solidFill>
                <a:latin typeface="Segoe UI"/>
              </a:rPr>
              <a:t>copyToCacheDirectory: true säkerställer att appen kan läsa ljudfilen säkert även i sandlådan.</a:t>
            </a:r>
          </a:p>
        </p:txBody>
      </p:sp>
      <p:pic>
        <p:nvPicPr>
          <p:cNvPr id="8" name="Picture 7" descr="code_orient.png"/>
          <p:cNvPicPr>
            <a:picLocks noChangeAspect="1"/>
          </p:cNvPicPr>
          <p:nvPr/>
        </p:nvPicPr>
        <p:blipFill>
          <a:blip r:embed="rId2"/>
          <a:stretch>
            <a:fillRect/>
          </a:stretch>
        </p:blipFill>
        <p:spPr>
          <a:xfrm>
            <a:off x="5943600" y="1828800"/>
            <a:ext cx="5486400" cy="3325555"/>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20040"/>
          </a:xfrm>
          <a:prstGeom prst="rect">
            <a:avLst/>
          </a:prstGeom>
          <a:noFill/>
        </p:spPr>
        <p:txBody>
          <a:bodyPr wrap="square">
            <a:spAutoFit/>
          </a:bodyPr>
          <a:lstStyle/>
          <a:p>
            <a:pPr>
              <a:defRPr sz="1100" b="1">
                <a:solidFill>
                  <a:srgbClr val="38BDF8"/>
                </a:solidFill>
                <a:latin typeface="Segoe UI"/>
              </a:defRPr>
            </a:pPr>
            <a:r>
              <a:t>REACT NATIVE CORE-KOMPONENTER (KRAV)</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8FAFC"/>
                </a:solidFill>
                <a:latin typeface="Segoe UI"/>
              </a:defRPr>
            </a:pPr>
            <a:r>
              <a:t>5 st officiella React Native-komponenter</a:t>
            </a:r>
          </a:p>
        </p:txBody>
      </p:sp>
      <p:sp>
        <p:nvSpPr>
          <p:cNvPr id="5" name="TextBox 4"/>
          <p:cNvSpPr txBox="1"/>
          <p:nvPr/>
        </p:nvSpPr>
        <p:spPr>
          <a:xfrm>
            <a:off x="731520" y="1298448"/>
            <a:ext cx="10515600" cy="365760"/>
          </a:xfrm>
          <a:prstGeom prst="rect">
            <a:avLst/>
          </a:prstGeom>
          <a:noFill/>
        </p:spPr>
        <p:txBody>
          <a:bodyPr wrap="square">
            <a:spAutoFit/>
          </a:bodyPr>
          <a:lstStyle/>
          <a:p>
            <a:pPr>
              <a:defRPr sz="1400">
                <a:solidFill>
                  <a:srgbClr val="94A3B8"/>
                </a:solidFill>
                <a:latin typeface="Segoe UI"/>
              </a:defRPr>
            </a:pPr>
            <a:r>
              <a:t>Minst 4 komponenter krävs – alla importerade från 'react-native'</a:t>
            </a:r>
          </a:p>
        </p:txBody>
      </p:sp>
      <p:sp>
        <p:nvSpPr>
          <p:cNvPr id="6" name="Rounded Rectangle 5"/>
          <p:cNvSpPr/>
          <p:nvPr/>
        </p:nvSpPr>
        <p:spPr>
          <a:xfrm>
            <a:off x="731520" y="1828800"/>
            <a:ext cx="5120640" cy="4389120"/>
          </a:xfrm>
          <a:prstGeom prst="roundRect">
            <a:avLst/>
          </a:prstGeom>
          <a:solidFill>
            <a:srgbClr val="182138"/>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93392"/>
            <a:ext cx="4754880" cy="4059936"/>
          </a:xfrm>
          <a:prstGeom prst="rect">
            <a:avLst/>
          </a:prstGeom>
          <a:noFill/>
        </p:spPr>
        <p:txBody>
          <a:bodyPr wrap="square">
            <a:spAutoFit/>
          </a:bodyPr>
          <a:lstStyle/>
          <a:p>
            <a:pPr>
              <a:spcAft>
                <a:spcPts val="1000"/>
              </a:spcAft>
              <a:defRPr sz="1800" b="1">
                <a:solidFill>
                  <a:srgbClr val="F8FAFC"/>
                </a:solidFill>
                <a:latin typeface="Segoe UI"/>
              </a:defRPr>
            </a:pPr>
            <a:r>
              <a:t>De 5 använda komponenterna</a:t>
            </a:r>
          </a:p>
          <a:p>
            <a:pPr>
              <a:spcAft>
                <a:spcPts val="800"/>
              </a:spcAft>
            </a:pPr>
            <a:r>
              <a:rPr b="1" sz="1350">
                <a:solidFill>
                  <a:srgbClr val="38BDF8"/>
                </a:solidFill>
                <a:latin typeface="Segoe UI"/>
              </a:rPr>
              <a:t>1. View: </a:t>
            </a:r>
            <a:r>
              <a:rPr b="0" sz="1300">
                <a:solidFill>
                  <a:srgbClr val="CBD5E1"/>
                </a:solidFill>
                <a:latin typeface="Segoe UI"/>
              </a:rPr>
              <a:t>Huvudbyggstenen för all layout. Används för flexbox-positionering, rutnät och containers på alla skärmar.</a:t>
            </a:r>
          </a:p>
          <a:p>
            <a:pPr>
              <a:spcAft>
                <a:spcPts val="800"/>
              </a:spcAft>
            </a:pPr>
            <a:r>
              <a:rPr b="1" sz="1350">
                <a:solidFill>
                  <a:srgbClr val="38BDF8"/>
                </a:solidFill>
                <a:latin typeface="Segoe UI"/>
              </a:rPr>
              <a:t>2. Text: </a:t>
            </a:r>
            <a:r>
              <a:rPr b="0" sz="1300">
                <a:solidFill>
                  <a:srgbClr val="CBD5E1"/>
                </a:solidFill>
                <a:latin typeface="Segoe UI"/>
              </a:rPr>
              <a:t>Renderar all typografi i appen: låttitlar, timers, frågetexter och knappetiketter med styling.</a:t>
            </a:r>
          </a:p>
          <a:p>
            <a:pPr>
              <a:spcAft>
                <a:spcPts val="800"/>
              </a:spcAft>
            </a:pPr>
            <a:r>
              <a:rPr b="1" sz="1350">
                <a:solidFill>
                  <a:srgbClr val="38BDF8"/>
                </a:solidFill>
                <a:latin typeface="Segoe UI"/>
              </a:rPr>
              <a:t>3. Pressable: </a:t>
            </a:r>
            <a:r>
              <a:rPr b="0" sz="1300">
                <a:solidFill>
                  <a:srgbClr val="CBD5E1"/>
                </a:solidFill>
                <a:latin typeface="Segoe UI"/>
              </a:rPr>
              <a:t>Modern touch-komponent som används för alla knappar. Hanterar tryck-state, feedback och opacitets-animationer.</a:t>
            </a:r>
          </a:p>
          <a:p>
            <a:pPr>
              <a:spcAft>
                <a:spcPts val="800"/>
              </a:spcAft>
            </a:pPr>
            <a:r>
              <a:rPr b="1" sz="1350">
                <a:solidFill>
                  <a:srgbClr val="38BDF8"/>
                </a:solidFill>
                <a:latin typeface="Segoe UI"/>
              </a:rPr>
              <a:t>4. FlatList: </a:t>
            </a:r>
            <a:r>
              <a:rPr b="0" sz="1300">
                <a:solidFill>
                  <a:srgbClr val="CBD5E1"/>
                </a:solidFill>
                <a:latin typeface="Segoe UI"/>
              </a:rPr>
              <a:t>Prestandaoptimerad scrollista för spellistan. Renderar endast de element som syns i bild (virtualisering) för 60 FPS.</a:t>
            </a:r>
          </a:p>
          <a:p>
            <a:pPr>
              <a:spcAft>
                <a:spcPts val="800"/>
              </a:spcAft>
            </a:pPr>
            <a:r>
              <a:rPr b="1" sz="1350">
                <a:solidFill>
                  <a:srgbClr val="38BDF8"/>
                </a:solidFill>
                <a:latin typeface="Segoe UI"/>
              </a:rPr>
              <a:t>5. ActivityIndicator: </a:t>
            </a:r>
            <a:r>
              <a:rPr b="0" sz="1300">
                <a:solidFill>
                  <a:srgbClr val="CBD5E1"/>
                </a:solidFill>
                <a:latin typeface="Segoe UI"/>
              </a:rPr>
              <a:t>Nativ laddningssnurra som snurrar på trivia-skärmen medan API-svaret hämtas över nätverket.</a:t>
            </a:r>
          </a:p>
        </p:txBody>
      </p:sp>
      <p:sp>
        <p:nvSpPr>
          <p:cNvPr id="8" name="Rounded Rectangle 7"/>
          <p:cNvSpPr/>
          <p:nvPr/>
        </p:nvSpPr>
        <p:spPr>
          <a:xfrm>
            <a:off x="6217920" y="1828800"/>
            <a:ext cx="5212080" cy="4389120"/>
          </a:xfrm>
          <a:prstGeom prst="roundRect">
            <a:avLst/>
          </a:prstGeom>
          <a:solidFill>
            <a:srgbClr val="182138"/>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93392"/>
            <a:ext cx="4846320" cy="4059936"/>
          </a:xfrm>
          <a:prstGeom prst="rect">
            <a:avLst/>
          </a:prstGeom>
          <a:noFill/>
        </p:spPr>
        <p:txBody>
          <a:bodyPr wrap="square">
            <a:spAutoFit/>
          </a:bodyPr>
          <a:lstStyle/>
          <a:p>
            <a:pPr>
              <a:spcAft>
                <a:spcPts val="1000"/>
              </a:spcAft>
              <a:defRPr sz="1800" b="1">
                <a:solidFill>
                  <a:srgbClr val="F8FAFC"/>
                </a:solidFill>
                <a:latin typeface="Segoe UI"/>
              </a:defRPr>
            </a:pPr>
            <a:r>
              <a:t>Viktiga gränsdragningar</a:t>
            </a:r>
          </a:p>
          <a:p>
            <a:pPr>
              <a:spcAft>
                <a:spcPts val="800"/>
              </a:spcAft>
            </a:pPr>
            <a:r>
              <a:rPr b="1" sz="1350">
                <a:solidFill>
                  <a:srgbClr val="38BDF8"/>
                </a:solidFill>
                <a:latin typeface="Segoe UI"/>
              </a:rPr>
              <a:t>Inga API:er som komponenter: </a:t>
            </a:r>
            <a:r>
              <a:rPr b="0" sz="1300">
                <a:solidFill>
                  <a:srgbClr val="CBD5E1"/>
                </a:solidFill>
                <a:latin typeface="Segoe UI"/>
              </a:rPr>
              <a:t>I enlighet med uppgiftsbeskrivningen har jag INTE räknat StyleSheet eller Alert som komponenter, då de är API:er.</a:t>
            </a:r>
          </a:p>
          <a:p>
            <a:pPr>
              <a:spcAft>
                <a:spcPts val="800"/>
              </a:spcAft>
            </a:pPr>
            <a:r>
              <a:rPr b="1" sz="1350">
                <a:solidFill>
                  <a:srgbClr val="38BDF8"/>
                </a:solidFill>
                <a:latin typeface="Segoe UI"/>
              </a:rPr>
              <a:t>Varför FlatList istället för ScrollView? </a:t>
            </a:r>
            <a:r>
              <a:rPr b="0" sz="1300">
                <a:solidFill>
                  <a:srgbClr val="CBD5E1"/>
                </a:solidFill>
                <a:latin typeface="Segoe UI"/>
              </a:rPr>
              <a:t>Spellistan kan innehålla hundratals låtar. ScrollView skulle rendera alla samtidigt och slöa ner mobilen, medan FlatList återanvänder minne blixtsnabbt.</a:t>
            </a:r>
          </a:p>
          <a:p>
            <a:pPr>
              <a:spcAft>
                <a:spcPts val="800"/>
              </a:spcAft>
            </a:pPr>
            <a:r>
              <a:rPr b="1" sz="1350">
                <a:solidFill>
                  <a:srgbClr val="38BDF8"/>
                </a:solidFill>
                <a:latin typeface="Segoe UI"/>
              </a:rPr>
              <a:t>Varför Pressable istället för TouchableOpacity? </a:t>
            </a:r>
            <a:r>
              <a:rPr b="0" sz="1300">
                <a:solidFill>
                  <a:srgbClr val="CBD5E1"/>
                </a:solidFill>
                <a:latin typeface="Segoe UI"/>
              </a:rPr>
              <a:t>Pressable är den officiella moderna standarden i React Native som ger bättre precision och stöd för haptisk koordinering.</a:t>
            </a:r>
          </a:p>
          <a:p>
            <a:pPr>
              <a:spcAft>
                <a:spcPts val="800"/>
              </a:spcAft>
            </a:pPr>
            <a:r>
              <a:rPr b="1" sz="1350">
                <a:solidFill>
                  <a:srgbClr val="38BDF8"/>
                </a:solidFill>
                <a:latin typeface="Segoe UI"/>
              </a:rPr>
              <a:t>Resultat: </a:t>
            </a:r>
            <a:r>
              <a:rPr b="0" sz="1300">
                <a:solidFill>
                  <a:srgbClr val="CBD5E1"/>
                </a:solidFill>
                <a:latin typeface="Segoe UI"/>
              </a:rPr>
              <a:t>5 renodlade, fullt godkända Core Components direkt från 'react-native'.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20040"/>
          </a:xfrm>
          <a:prstGeom prst="rect">
            <a:avLst/>
          </a:prstGeom>
          <a:noFill/>
        </p:spPr>
        <p:txBody>
          <a:bodyPr wrap="square">
            <a:spAutoFit/>
          </a:bodyPr>
          <a:lstStyle/>
          <a:p>
            <a:pPr>
              <a:defRPr sz="1100" b="1">
                <a:solidFill>
                  <a:srgbClr val="C084FC"/>
                </a:solidFill>
                <a:latin typeface="Segoe UI"/>
              </a:defRPr>
            </a:pPr>
            <a:r>
              <a:t>VÄL GODKÄNT (VG-KRAV)</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8FAFC"/>
                </a:solidFill>
                <a:latin typeface="Segoe UI"/>
              </a:defRPr>
            </a:pPr>
            <a:r>
              <a:t>Externa Moduler &amp; Web-API</a:t>
            </a:r>
          </a:p>
        </p:txBody>
      </p:sp>
      <p:sp>
        <p:nvSpPr>
          <p:cNvPr id="5" name="TextBox 4"/>
          <p:cNvSpPr txBox="1"/>
          <p:nvPr/>
        </p:nvSpPr>
        <p:spPr>
          <a:xfrm>
            <a:off x="731520" y="1298448"/>
            <a:ext cx="10515600" cy="365760"/>
          </a:xfrm>
          <a:prstGeom prst="rect">
            <a:avLst/>
          </a:prstGeom>
          <a:noFill/>
        </p:spPr>
        <p:txBody>
          <a:bodyPr wrap="square">
            <a:spAutoFit/>
          </a:bodyPr>
          <a:lstStyle/>
          <a:p>
            <a:pPr>
              <a:defRPr sz="1400">
                <a:solidFill>
                  <a:srgbClr val="94A3B8"/>
                </a:solidFill>
                <a:latin typeface="Segoe UI"/>
              </a:defRPr>
            </a:pPr>
            <a:r>
              <a:t>reactnative.directory-paket och asynkront Web-API via fetch()</a:t>
            </a:r>
          </a:p>
        </p:txBody>
      </p:sp>
      <p:sp>
        <p:nvSpPr>
          <p:cNvPr id="6" name="Rounded Rectangle 5"/>
          <p:cNvSpPr/>
          <p:nvPr/>
        </p:nvSpPr>
        <p:spPr>
          <a:xfrm>
            <a:off x="731520" y="1828800"/>
            <a:ext cx="4937760" cy="4389120"/>
          </a:xfrm>
          <a:prstGeom prst="roundRect">
            <a:avLst/>
          </a:prstGeom>
          <a:solidFill>
            <a:srgbClr val="182138"/>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93392"/>
            <a:ext cx="4572000" cy="4059936"/>
          </a:xfrm>
          <a:prstGeom prst="rect">
            <a:avLst/>
          </a:prstGeom>
          <a:noFill/>
        </p:spPr>
        <p:txBody>
          <a:bodyPr wrap="square">
            <a:spAutoFit/>
          </a:bodyPr>
          <a:lstStyle/>
          <a:p>
            <a:pPr>
              <a:spcAft>
                <a:spcPts val="1000"/>
              </a:spcAft>
              <a:defRPr sz="1800" b="1">
                <a:solidFill>
                  <a:srgbClr val="F8FAFC"/>
                </a:solidFill>
                <a:latin typeface="Segoe UI"/>
              </a:defRPr>
            </a:pPr>
            <a:r>
              <a:t>Uppfyllda VG-Kriterier</a:t>
            </a:r>
          </a:p>
          <a:p>
            <a:pPr>
              <a:spcAft>
                <a:spcPts val="800"/>
              </a:spcAft>
            </a:pPr>
            <a:r>
              <a:rPr b="1" sz="1350">
                <a:solidFill>
                  <a:srgbClr val="38BDF8"/>
                </a:solidFill>
                <a:latin typeface="Segoe UI"/>
              </a:rPr>
              <a:t>VG-Krav 2: Externa moduler: </a:t>
            </a:r>
            <a:r>
              <a:rPr b="0" sz="1300">
                <a:solidFill>
                  <a:srgbClr val="CBD5E1"/>
                </a:solidFill>
                <a:latin typeface="Segoe UI"/>
              </a:rPr>
              <a:t>Hämtade från reactnative.directory med fullt stöd för New Architecture &amp; Expo Go:</a:t>
            </a:r>
          </a:p>
          <a:p>
            <a:pPr>
              <a:spcAft>
                <a:spcPts val="800"/>
              </a:spcAft>
            </a:pPr>
            <a:r>
              <a:rPr b="1" sz="1350">
                <a:solidFill>
                  <a:srgbClr val="38BDF8"/>
                </a:solidFill>
                <a:latin typeface="Segoe UI"/>
              </a:rPr>
              <a:t>• AsyncStorage: </a:t>
            </a:r>
            <a:r>
              <a:rPr b="0" sz="1300">
                <a:solidFill>
                  <a:srgbClr val="CBD5E1"/>
                </a:solidFill>
                <a:latin typeface="Segoe UI"/>
              </a:rPr>
              <a:t>@react-native-async-storage/async-storage för persistent datalagring av cue-points, spellistordning och egna låtar.</a:t>
            </a:r>
          </a:p>
          <a:p>
            <a:pPr>
              <a:spcAft>
                <a:spcPts val="800"/>
              </a:spcAft>
            </a:pPr>
            <a:r>
              <a:rPr b="1" sz="1350">
                <a:solidFill>
                  <a:srgbClr val="38BDF8"/>
                </a:solidFill>
                <a:latin typeface="Segoe UI"/>
              </a:rPr>
              <a:t>• Community Slider: </a:t>
            </a:r>
            <a:r>
              <a:rPr b="0" sz="1300">
                <a:solidFill>
                  <a:srgbClr val="CBD5E1"/>
                </a:solidFill>
                <a:latin typeface="Segoe UI"/>
              </a:rPr>
              <a:t>@react-native-community/slider ger ett mjukt touch-reglage för att ställa in exakt sekund i låten.</a:t>
            </a:r>
          </a:p>
          <a:p>
            <a:pPr>
              <a:spcAft>
                <a:spcPts val="800"/>
              </a:spcAft>
            </a:pPr>
            <a:r>
              <a:rPr b="1" sz="1350">
                <a:solidFill>
                  <a:srgbClr val="38BDF8"/>
                </a:solidFill>
                <a:latin typeface="Segoe UI"/>
              </a:rPr>
              <a:t>VG-Krav 3: Web-API: </a:t>
            </a:r>
            <a:r>
              <a:rPr b="0" sz="1300">
                <a:solidFill>
                  <a:srgbClr val="CBD5E1"/>
                </a:solidFill>
                <a:latin typeface="Segoe UI"/>
              </a:rPr>
              <a:t>Hämtar data live från Open Trivia Database (kategori 21: Sport) via fetch().</a:t>
            </a:r>
          </a:p>
          <a:p>
            <a:pPr>
              <a:spcAft>
                <a:spcPts val="800"/>
              </a:spcAft>
            </a:pPr>
            <a:r>
              <a:rPr b="1" sz="1350">
                <a:solidFill>
                  <a:srgbClr val="38BDF8"/>
                </a:solidFill>
                <a:latin typeface="Segoe UI"/>
              </a:rPr>
              <a:t>Asynkron datahantering: </a:t>
            </a:r>
            <a:r>
              <a:rPr b="0" sz="1300">
                <a:solidFill>
                  <a:srgbClr val="CBD5E1"/>
                </a:solidFill>
                <a:latin typeface="Segoe UI"/>
              </a:rPr>
              <a:t>Avkodar URL-strängar, slumpar svarsordning dynamiskt och hanterar fel med try/catch och loading states.</a:t>
            </a:r>
          </a:p>
        </p:txBody>
      </p:sp>
      <p:pic>
        <p:nvPicPr>
          <p:cNvPr id="8" name="Picture 7" descr="code_vg.png"/>
          <p:cNvPicPr>
            <a:picLocks noChangeAspect="1"/>
          </p:cNvPicPr>
          <p:nvPr/>
        </p:nvPicPr>
        <p:blipFill>
          <a:blip r:embed="rId2"/>
          <a:stretch>
            <a:fillRect/>
          </a:stretch>
        </p:blipFill>
        <p:spPr>
          <a:xfrm>
            <a:off x="5943600" y="1828800"/>
            <a:ext cx="5486400" cy="2840417"/>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20040"/>
          </a:xfrm>
          <a:prstGeom prst="rect">
            <a:avLst/>
          </a:prstGeom>
          <a:noFill/>
        </p:spPr>
        <p:txBody>
          <a:bodyPr wrap="square">
            <a:spAutoFit/>
          </a:bodyPr>
          <a:lstStyle/>
          <a:p>
            <a:pPr>
              <a:defRPr sz="1100" b="1">
                <a:solidFill>
                  <a:srgbClr val="38BDF8"/>
                </a:solidFill>
                <a:latin typeface="Segoe UI"/>
              </a:defRPr>
            </a:pPr>
            <a:r>
              <a:t>ARBETSPROCESS &amp; VERSIONSHANTERING</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8FAFC"/>
                </a:solidFill>
                <a:latin typeface="Segoe UI"/>
              </a:defRPr>
            </a:pPr>
            <a:r>
              <a:t>Hur projektet planerades och genomfördes</a:t>
            </a:r>
          </a:p>
        </p:txBody>
      </p:sp>
      <p:sp>
        <p:nvSpPr>
          <p:cNvPr id="5" name="TextBox 4"/>
          <p:cNvSpPr txBox="1"/>
          <p:nvPr/>
        </p:nvSpPr>
        <p:spPr>
          <a:xfrm>
            <a:off x="731520" y="1298448"/>
            <a:ext cx="10515600" cy="365760"/>
          </a:xfrm>
          <a:prstGeom prst="rect">
            <a:avLst/>
          </a:prstGeom>
          <a:noFill/>
        </p:spPr>
        <p:txBody>
          <a:bodyPr wrap="square">
            <a:spAutoFit/>
          </a:bodyPr>
          <a:lstStyle/>
          <a:p>
            <a:pPr>
              <a:defRPr sz="1400">
                <a:solidFill>
                  <a:srgbClr val="94A3B8"/>
                </a:solidFill>
                <a:latin typeface="Segoe UI"/>
              </a:defRPr>
            </a:pPr>
            <a:r>
              <a:t>Strukturerat arbete, TypeScript-first och versionshantering med Git</a:t>
            </a:r>
          </a:p>
        </p:txBody>
      </p:sp>
      <p:sp>
        <p:nvSpPr>
          <p:cNvPr id="6" name="Rounded Rectangle 5"/>
          <p:cNvSpPr/>
          <p:nvPr/>
        </p:nvSpPr>
        <p:spPr>
          <a:xfrm>
            <a:off x="731520" y="1828800"/>
            <a:ext cx="5120640" cy="4389120"/>
          </a:xfrm>
          <a:prstGeom prst="roundRect">
            <a:avLst/>
          </a:prstGeom>
          <a:solidFill>
            <a:srgbClr val="182138"/>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93392"/>
            <a:ext cx="4754880" cy="4059936"/>
          </a:xfrm>
          <a:prstGeom prst="rect">
            <a:avLst/>
          </a:prstGeom>
          <a:noFill/>
        </p:spPr>
        <p:txBody>
          <a:bodyPr wrap="square">
            <a:spAutoFit/>
          </a:bodyPr>
          <a:lstStyle/>
          <a:p>
            <a:pPr>
              <a:spcAft>
                <a:spcPts val="1000"/>
              </a:spcAft>
              <a:defRPr sz="1800" b="1">
                <a:solidFill>
                  <a:srgbClr val="F8FAFC"/>
                </a:solidFill>
                <a:latin typeface="Segoe UI"/>
              </a:defRPr>
            </a:pPr>
            <a:r>
              <a:t>Arbetsprocess &amp; Metod</a:t>
            </a:r>
          </a:p>
          <a:p>
            <a:pPr>
              <a:spcAft>
                <a:spcPts val="800"/>
              </a:spcAft>
            </a:pPr>
            <a:r>
              <a:rPr b="1" sz="1350">
                <a:solidFill>
                  <a:srgbClr val="38BDF8"/>
                </a:solidFill>
                <a:latin typeface="Segoe UI"/>
              </a:rPr>
              <a:t>1. Problemdefinition &amp; Skiss: </a:t>
            </a:r>
            <a:r>
              <a:rPr b="0" sz="1300">
                <a:solidFill>
                  <a:srgbClr val="CBD5E1"/>
                </a:solidFill>
                <a:latin typeface="Segoe UI"/>
              </a:rPr>
              <a:t>Började med att identifiera de mest tidskritiska momenten i sekretariatet: omedelbar start, tydliga knappar och cue-points.</a:t>
            </a:r>
          </a:p>
          <a:p>
            <a:pPr>
              <a:spcAft>
                <a:spcPts val="800"/>
              </a:spcAft>
            </a:pPr>
            <a:r>
              <a:rPr b="1" sz="1350">
                <a:solidFill>
                  <a:srgbClr val="38BDF8"/>
                </a:solidFill>
                <a:latin typeface="Segoe UI"/>
              </a:rPr>
              <a:t>2. TypeScript-first datamodell: </a:t>
            </a:r>
            <a:r>
              <a:rPr b="0" sz="1300">
                <a:solidFill>
                  <a:srgbClr val="CBD5E1"/>
                </a:solidFill>
                <a:latin typeface="Segoe UI"/>
              </a:rPr>
              <a:t>Skapade tidigt interfaces för SoundTrack och kategorier i src/sounds.ts för att ha typstrikthet genom hela koden.</a:t>
            </a:r>
          </a:p>
          <a:p>
            <a:pPr>
              <a:spcAft>
                <a:spcPts val="800"/>
              </a:spcAft>
            </a:pPr>
            <a:r>
              <a:rPr b="1" sz="1350">
                <a:solidFill>
                  <a:srgbClr val="38BDF8"/>
                </a:solidFill>
                <a:latin typeface="Segoe UI"/>
              </a:rPr>
              <a:t>3. Mobil-först med Expo Go: </a:t>
            </a:r>
            <a:r>
              <a:rPr b="0" sz="1300">
                <a:solidFill>
                  <a:srgbClr val="CBD5E1"/>
                </a:solidFill>
                <a:latin typeface="Segoe UI"/>
              </a:rPr>
              <a:t>Utvecklade med fysisk mobil bredvid datorn. Varje ny funktion (som haptik och rotation) testades direkt i handen.</a:t>
            </a:r>
          </a:p>
          <a:p>
            <a:pPr>
              <a:spcAft>
                <a:spcPts val="800"/>
              </a:spcAft>
            </a:pPr>
            <a:r>
              <a:rPr b="1" sz="1350">
                <a:solidFill>
                  <a:srgbClr val="38BDF8"/>
                </a:solidFill>
                <a:latin typeface="Segoe UI"/>
              </a:rPr>
              <a:t>4. Kontinuerlig verifiering: </a:t>
            </a:r>
            <a:r>
              <a:rPr b="0" sz="1300">
                <a:solidFill>
                  <a:srgbClr val="CBD5E1"/>
                </a:solidFill>
                <a:latin typeface="Segoe UI"/>
              </a:rPr>
              <a:t>Körde regelbundet 'npx tsc --noEmit' och 'npx expo lint' för att aldrig bygga vidare på kod med dolda fel.</a:t>
            </a:r>
          </a:p>
        </p:txBody>
      </p:sp>
      <p:sp>
        <p:nvSpPr>
          <p:cNvPr id="8" name="Rounded Rectangle 7"/>
          <p:cNvSpPr/>
          <p:nvPr/>
        </p:nvSpPr>
        <p:spPr>
          <a:xfrm>
            <a:off x="6217920" y="1828800"/>
            <a:ext cx="5212080" cy="4389120"/>
          </a:xfrm>
          <a:prstGeom prst="roundRect">
            <a:avLst/>
          </a:prstGeom>
          <a:solidFill>
            <a:srgbClr val="182138"/>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93392"/>
            <a:ext cx="4846320" cy="4059936"/>
          </a:xfrm>
          <a:prstGeom prst="rect">
            <a:avLst/>
          </a:prstGeom>
          <a:noFill/>
        </p:spPr>
        <p:txBody>
          <a:bodyPr wrap="square">
            <a:spAutoFit/>
          </a:bodyPr>
          <a:lstStyle/>
          <a:p>
            <a:pPr>
              <a:spcAft>
                <a:spcPts val="1000"/>
              </a:spcAft>
              <a:defRPr sz="1800" b="1">
                <a:solidFill>
                  <a:srgbClr val="F8FAFC"/>
                </a:solidFill>
                <a:latin typeface="Segoe UI"/>
              </a:defRPr>
            </a:pPr>
            <a:r>
              <a:t>Git &amp; GitHub-historik</a:t>
            </a:r>
          </a:p>
          <a:p>
            <a:pPr>
              <a:spcAft>
                <a:spcPts val="800"/>
              </a:spcAft>
            </a:pPr>
            <a:r>
              <a:rPr b="1" sz="1350">
                <a:solidFill>
                  <a:srgbClr val="38BDF8"/>
                </a:solidFill>
                <a:latin typeface="Segoe UI"/>
              </a:rPr>
              <a:t>Löpande commits (G-krav): </a:t>
            </a:r>
            <a:r>
              <a:rPr b="0" sz="1300">
                <a:solidFill>
                  <a:srgbClr val="CBD5E1"/>
                </a:solidFill>
                <a:latin typeface="Segoe UI"/>
              </a:rPr>
              <a:t>Commits har gjorts kontinuerligt under hela utvecklingen, inte allt i en stor commit på slutet.</a:t>
            </a:r>
          </a:p>
          <a:p>
            <a:pPr>
              <a:spcAft>
                <a:spcPts val="800"/>
              </a:spcAft>
            </a:pPr>
            <a:r>
              <a:rPr b="1" sz="1350">
                <a:solidFill>
                  <a:srgbClr val="38BDF8"/>
                </a:solidFill>
                <a:latin typeface="Segoe UI"/>
              </a:rPr>
              <a:t>Tydlig struktur: </a:t>
            </a:r>
            <a:r>
              <a:rPr b="0" sz="1300">
                <a:solidFill>
                  <a:srgbClr val="CBD5E1"/>
                </a:solidFill>
                <a:latin typeface="Segoe UI"/>
              </a:rPr>
              <a:t>Varje commit har ett beskrivande syfte – t.ex. när AsyncStorage implementerades, när layouten anpassades eller när API:et kopplades på.</a:t>
            </a:r>
          </a:p>
          <a:p>
            <a:pPr>
              <a:spcAft>
                <a:spcPts val="800"/>
              </a:spcAft>
            </a:pPr>
            <a:r>
              <a:rPr b="1" sz="1350">
                <a:solidFill>
                  <a:srgbClr val="38BDF8"/>
                </a:solidFill>
                <a:latin typeface="Segoe UI"/>
              </a:rPr>
              <a:t>Publikt repo: </a:t>
            </a:r>
            <a:r>
              <a:rPr b="0" sz="1300">
                <a:solidFill>
                  <a:srgbClr val="CBD5E1"/>
                </a:solidFill>
                <a:latin typeface="Segoe UI"/>
              </a:rPr>
              <a:t>Projektet finns publicerat på GitHub (Olausson44/AppInl-mning1) med full commit-historik.</a:t>
            </a:r>
          </a:p>
          <a:p>
            <a:pPr>
              <a:spcAft>
                <a:spcPts val="800"/>
              </a:spcAft>
            </a:pPr>
            <a:r>
              <a:rPr b="1" sz="1350">
                <a:solidFill>
                  <a:srgbClr val="38BDF8"/>
                </a:solidFill>
                <a:latin typeface="Segoe UI"/>
              </a:rPr>
              <a:t>Korrekt inlämningspaket: </a:t>
            </a:r>
            <a:r>
              <a:rPr b="0" sz="1300">
                <a:solidFill>
                  <a:srgbClr val="CBD5E1"/>
                </a:solidFill>
                <a:latin typeface="Segoe UI"/>
              </a:rPr>
              <a:t>Zippas enligt instruktion: .git-mappen följer med, medan node_modules utesluts.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20040"/>
          </a:xfrm>
          <a:prstGeom prst="rect">
            <a:avLst/>
          </a:prstGeom>
          <a:noFill/>
        </p:spPr>
        <p:txBody>
          <a:bodyPr wrap="square">
            <a:spAutoFit/>
          </a:bodyPr>
          <a:lstStyle/>
          <a:p>
            <a:pPr>
              <a:defRPr sz="1100" b="1">
                <a:solidFill>
                  <a:srgbClr val="FB923C"/>
                </a:solidFill>
                <a:latin typeface="Segoe UI"/>
              </a:defRPr>
            </a:pPr>
            <a:r>
              <a:t>REFLEKTERANDE DEL (KRAV)</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8FAFC"/>
                </a:solidFill>
                <a:latin typeface="Segoe UI"/>
              </a:defRPr>
            </a:pPr>
            <a:r>
              <a:t>Utmaningar, Lärdomar &amp; Vad jag tar med mig</a:t>
            </a:r>
          </a:p>
        </p:txBody>
      </p:sp>
      <p:sp>
        <p:nvSpPr>
          <p:cNvPr id="5" name="TextBox 4"/>
          <p:cNvSpPr txBox="1"/>
          <p:nvPr/>
        </p:nvSpPr>
        <p:spPr>
          <a:xfrm>
            <a:off x="731520" y="1298448"/>
            <a:ext cx="10515600" cy="365760"/>
          </a:xfrm>
          <a:prstGeom prst="rect">
            <a:avLst/>
          </a:prstGeom>
          <a:noFill/>
        </p:spPr>
        <p:txBody>
          <a:bodyPr wrap="square">
            <a:spAutoFit/>
          </a:bodyPr>
          <a:lstStyle/>
          <a:p>
            <a:pPr>
              <a:defRPr sz="1400">
                <a:solidFill>
                  <a:srgbClr val="94A3B8"/>
                </a:solidFill>
                <a:latin typeface="Segoe UI"/>
              </a:defRPr>
            </a:pPr>
            <a:r>
              <a:t>Ärlig analys av vad som var svårt och hur appen kan vidareutvecklas</a:t>
            </a:r>
          </a:p>
        </p:txBody>
      </p:sp>
      <p:sp>
        <p:nvSpPr>
          <p:cNvPr id="6" name="Rounded Rectangle 5"/>
          <p:cNvSpPr/>
          <p:nvPr/>
        </p:nvSpPr>
        <p:spPr>
          <a:xfrm>
            <a:off x="731520" y="1828800"/>
            <a:ext cx="5120640" cy="4389120"/>
          </a:xfrm>
          <a:prstGeom prst="roundRect">
            <a:avLst/>
          </a:prstGeom>
          <a:solidFill>
            <a:srgbClr val="182138"/>
          </a:solidFill>
          <a:ln w="1905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93392"/>
            <a:ext cx="4754880" cy="4059936"/>
          </a:xfrm>
          <a:prstGeom prst="rect">
            <a:avLst/>
          </a:prstGeom>
          <a:noFill/>
        </p:spPr>
        <p:txBody>
          <a:bodyPr wrap="square">
            <a:spAutoFit/>
          </a:bodyPr>
          <a:lstStyle/>
          <a:p>
            <a:pPr>
              <a:spcAft>
                <a:spcPts val="1000"/>
              </a:spcAft>
              <a:defRPr sz="1800" b="1">
                <a:solidFill>
                  <a:srgbClr val="F8FAFC"/>
                </a:solidFill>
                <a:latin typeface="Segoe UI"/>
              </a:defRPr>
            </a:pPr>
            <a:r>
              <a:t>Vad var svårt?</a:t>
            </a:r>
          </a:p>
          <a:p>
            <a:pPr>
              <a:spcAft>
                <a:spcPts val="800"/>
              </a:spcAft>
            </a:pPr>
            <a:r>
              <a:rPr b="1" sz="1350">
                <a:solidFill>
                  <a:srgbClr val="38BDF8"/>
                </a:solidFill>
                <a:latin typeface="Segoe UI"/>
              </a:rPr>
              <a:t>Nya expo-audio i SDK 52: </a:t>
            </a:r>
            <a:r>
              <a:rPr b="0" sz="1300">
                <a:solidFill>
                  <a:srgbClr val="CBD5E1"/>
                </a:solidFill>
                <a:latin typeface="Segoe UI"/>
              </a:rPr>
              <a:t>Eftersom expo-audio är helt nytt saknas gamla forumtrådar. Att förstå useAudioPlayer och hur replace/seekTo samspelar utan klickljud krävde mycket experimenterande.</a:t>
            </a:r>
          </a:p>
          <a:p>
            <a:pPr>
              <a:spcAft>
                <a:spcPts val="800"/>
              </a:spcAft>
            </a:pPr>
            <a:r>
              <a:rPr b="1" sz="1350">
                <a:solidFill>
                  <a:srgbClr val="38BDF8"/>
                </a:solidFill>
                <a:latin typeface="Segoe UI"/>
              </a:rPr>
              <a:t>Asynkrona starttider: </a:t>
            </a:r>
            <a:r>
              <a:rPr b="0" sz="1300">
                <a:solidFill>
                  <a:srgbClr val="CBD5E1"/>
                </a:solidFill>
                <a:latin typeface="Segoe UI"/>
              </a:rPr>
              <a:t>När man byter låt och direkt vill spola till en cue-point måste man invänta att telefonens ljudmotor hunnit buffra filen. Jag fick synkronisera detta med korta timeouts och statuskontroller.</a:t>
            </a:r>
          </a:p>
          <a:p>
            <a:pPr>
              <a:spcAft>
                <a:spcPts val="800"/>
              </a:spcAft>
            </a:pPr>
            <a:r>
              <a:rPr b="1" sz="1350">
                <a:solidFill>
                  <a:srgbClr val="38BDF8"/>
                </a:solidFill>
                <a:latin typeface="Segoe UI"/>
              </a:rPr>
              <a:t>Skärmrotation vid flikbyte: </a:t>
            </a:r>
            <a:r>
              <a:rPr b="0" sz="1300">
                <a:solidFill>
                  <a:srgbClr val="CBD5E1"/>
                </a:solidFill>
                <a:latin typeface="Segoe UI"/>
              </a:rPr>
              <a:t>Att få telefonen att rotera till liggande på soundboard och tillbaka till stående på spellistan utan UI-frysningar krävde rätt användning av useFocusEffect.</a:t>
            </a:r>
          </a:p>
        </p:txBody>
      </p:sp>
      <p:sp>
        <p:nvSpPr>
          <p:cNvPr id="8" name="Rounded Rectangle 7"/>
          <p:cNvSpPr/>
          <p:nvPr/>
        </p:nvSpPr>
        <p:spPr>
          <a:xfrm>
            <a:off x="6217920" y="1828800"/>
            <a:ext cx="5212080" cy="4389120"/>
          </a:xfrm>
          <a:prstGeom prst="roundRect">
            <a:avLst/>
          </a:prstGeom>
          <a:solidFill>
            <a:srgbClr val="182138"/>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93392"/>
            <a:ext cx="4846320" cy="4059936"/>
          </a:xfrm>
          <a:prstGeom prst="rect">
            <a:avLst/>
          </a:prstGeom>
          <a:noFill/>
        </p:spPr>
        <p:txBody>
          <a:bodyPr wrap="square">
            <a:spAutoFit/>
          </a:bodyPr>
          <a:lstStyle/>
          <a:p>
            <a:pPr>
              <a:spcAft>
                <a:spcPts val="1000"/>
              </a:spcAft>
              <a:defRPr sz="1800" b="1">
                <a:solidFill>
                  <a:srgbClr val="F8FAFC"/>
                </a:solidFill>
                <a:latin typeface="Segoe UI"/>
              </a:defRPr>
            </a:pPr>
            <a:r>
              <a:t>Vad skulle jag gjort annorlunda?</a:t>
            </a:r>
          </a:p>
          <a:p>
            <a:pPr>
              <a:spcAft>
                <a:spcPts val="800"/>
              </a:spcAft>
            </a:pPr>
            <a:r>
              <a:rPr b="1" sz="1350">
                <a:solidFill>
                  <a:srgbClr val="38BDF8"/>
                </a:solidFill>
                <a:latin typeface="Segoe UI"/>
              </a:rPr>
              <a:t>Global Audio Context: </a:t>
            </a:r>
            <a:r>
              <a:rPr b="0" sz="1300">
                <a:solidFill>
                  <a:srgbClr val="CBD5E1"/>
                </a:solidFill>
                <a:latin typeface="Segoe UI"/>
              </a:rPr>
              <a:t>Just nu pausas musiken när man lämnar soundboarden. Med mer tid hade jag lagt ljudspelaren i en global React Context eller Zustand-store så musiken kan spela vidare medan man söker i spellistan!</a:t>
            </a:r>
          </a:p>
          <a:p>
            <a:pPr>
              <a:spcAft>
                <a:spcPts val="800"/>
              </a:spcAft>
            </a:pPr>
            <a:r>
              <a:rPr b="1" sz="1350">
                <a:solidFill>
                  <a:srgbClr val="38BDF8"/>
                </a:solidFill>
                <a:latin typeface="Segoe UI"/>
              </a:rPr>
              <a:t>Ljudvågsvisualisering: </a:t>
            </a:r>
            <a:r>
              <a:rPr b="0" sz="1300">
                <a:solidFill>
                  <a:srgbClr val="CBD5E1"/>
                </a:solidFill>
                <a:latin typeface="Segoe UI"/>
              </a:rPr>
              <a:t>Det vore häftigt att rita ut låtens ljudvåg (waveform) på detaljskärmen så man ser var droppet är grafiskt.</a:t>
            </a:r>
          </a:p>
          <a:p>
            <a:pPr>
              <a:spcAft>
                <a:spcPts val="800"/>
              </a:spcAft>
            </a:pPr>
            <a:r>
              <a:rPr b="1" sz="1350">
                <a:solidFill>
                  <a:srgbClr val="38BDF8"/>
                </a:solidFill>
                <a:latin typeface="Segoe UI"/>
              </a:rPr>
              <a:t>Vad tar jag med mig: </a:t>
            </a:r>
            <a:r>
              <a:rPr b="0" sz="1300">
                <a:solidFill>
                  <a:srgbClr val="CBD5E1"/>
                </a:solidFill>
                <a:latin typeface="Segoe UI"/>
              </a:rPr>
              <a:t>Betydelsen av hårdvarunära mobilfunktioner. Haptik, sensorer och direkt lokal lagring gör att en webbapp-känsla förvandlas till en riktig nativ app.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20040"/>
          </a:xfrm>
          <a:prstGeom prst="rect">
            <a:avLst/>
          </a:prstGeom>
          <a:noFill/>
        </p:spPr>
        <p:txBody>
          <a:bodyPr wrap="square">
            <a:spAutoFit/>
          </a:bodyPr>
          <a:lstStyle/>
          <a:p>
            <a:pPr>
              <a:defRPr sz="1100" b="1">
                <a:solidFill>
                  <a:srgbClr val="C084FC"/>
                </a:solidFill>
                <a:latin typeface="Segoe UI"/>
              </a:defRPr>
            </a:pPr>
            <a:r>
              <a:t>ANVÄNDNING AV AI-VERKTYG (VG-KRAV)</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8FAFC"/>
                </a:solidFill>
                <a:latin typeface="Segoe UI"/>
              </a:defRPr>
            </a:pPr>
            <a:r>
              <a:t>AI som Utvecklingspartner &amp; Verifiering</a:t>
            </a:r>
          </a:p>
        </p:txBody>
      </p:sp>
      <p:sp>
        <p:nvSpPr>
          <p:cNvPr id="5" name="TextBox 4"/>
          <p:cNvSpPr txBox="1"/>
          <p:nvPr/>
        </p:nvSpPr>
        <p:spPr>
          <a:xfrm>
            <a:off x="731520" y="1298448"/>
            <a:ext cx="10515600" cy="365760"/>
          </a:xfrm>
          <a:prstGeom prst="rect">
            <a:avLst/>
          </a:prstGeom>
          <a:noFill/>
        </p:spPr>
        <p:txBody>
          <a:bodyPr wrap="square">
            <a:spAutoFit/>
          </a:bodyPr>
          <a:lstStyle/>
          <a:p>
            <a:pPr>
              <a:defRPr sz="1400">
                <a:solidFill>
                  <a:srgbClr val="94A3B8"/>
                </a:solidFill>
                <a:latin typeface="Segoe UI"/>
              </a:defRPr>
            </a:pPr>
            <a:r>
              <a:t>Dokumentation av AI-användning, roller och hur koden kvalitetssäkrats</a:t>
            </a:r>
          </a:p>
        </p:txBody>
      </p:sp>
      <p:sp>
        <p:nvSpPr>
          <p:cNvPr id="6" name="Rounded Rectangle 5"/>
          <p:cNvSpPr/>
          <p:nvPr/>
        </p:nvSpPr>
        <p:spPr>
          <a:xfrm>
            <a:off x="731520" y="1828800"/>
            <a:ext cx="5120640" cy="4389120"/>
          </a:xfrm>
          <a:prstGeom prst="roundRect">
            <a:avLst/>
          </a:prstGeom>
          <a:solidFill>
            <a:srgbClr val="182138"/>
          </a:solidFill>
          <a:ln w="19050">
            <a:solidFill>
              <a:srgbClr val="C084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93392"/>
            <a:ext cx="4754880" cy="4059936"/>
          </a:xfrm>
          <a:prstGeom prst="rect">
            <a:avLst/>
          </a:prstGeom>
          <a:noFill/>
        </p:spPr>
        <p:txBody>
          <a:bodyPr wrap="square">
            <a:spAutoFit/>
          </a:bodyPr>
          <a:lstStyle/>
          <a:p>
            <a:pPr>
              <a:spcAft>
                <a:spcPts val="1000"/>
              </a:spcAft>
              <a:defRPr sz="1800" b="1">
                <a:solidFill>
                  <a:srgbClr val="F8FAFC"/>
                </a:solidFill>
                <a:latin typeface="Segoe UI"/>
              </a:defRPr>
            </a:pPr>
            <a:r>
              <a:t>Hur AI har använts</a:t>
            </a:r>
          </a:p>
          <a:p>
            <a:pPr>
              <a:spcAft>
                <a:spcPts val="800"/>
              </a:spcAft>
            </a:pPr>
            <a:r>
              <a:rPr b="1" sz="1350">
                <a:solidFill>
                  <a:srgbClr val="38BDF8"/>
                </a:solidFill>
                <a:latin typeface="Segoe UI"/>
              </a:rPr>
              <a:t>Verktyg: </a:t>
            </a:r>
            <a:r>
              <a:rPr b="0" sz="1300">
                <a:solidFill>
                  <a:srgbClr val="CBD5E1"/>
                </a:solidFill>
                <a:latin typeface="Segoe UI"/>
              </a:rPr>
              <a:t>Antigravity (med Claude-modeller) som ett interaktivt bollplank och parprogrammerare.</a:t>
            </a:r>
          </a:p>
          <a:p>
            <a:pPr>
              <a:spcAft>
                <a:spcPts val="800"/>
              </a:spcAft>
            </a:pPr>
            <a:r>
              <a:rPr b="1" sz="1350">
                <a:solidFill>
                  <a:srgbClr val="38BDF8"/>
                </a:solidFill>
                <a:latin typeface="Segoe UI"/>
              </a:rPr>
              <a:t>Förstå nya SDK 52-moduler: </a:t>
            </a:r>
            <a:r>
              <a:rPr b="0" sz="1300">
                <a:solidFill>
                  <a:srgbClr val="CBD5E1"/>
                </a:solidFill>
                <a:latin typeface="Segoe UI"/>
              </a:rPr>
              <a:t>Framförallt för att navigera och snabbt bryta ner dokumentationen för nya expo-audio, som saknar äldre dokumentation.</a:t>
            </a:r>
          </a:p>
          <a:p>
            <a:pPr>
              <a:spcAft>
                <a:spcPts val="800"/>
              </a:spcAft>
            </a:pPr>
            <a:r>
              <a:rPr b="1" sz="1350">
                <a:solidFill>
                  <a:srgbClr val="38BDF8"/>
                </a:solidFill>
                <a:latin typeface="Segoe UI"/>
              </a:rPr>
              <a:t>Arkitektur &amp; Navigationslivscykel: </a:t>
            </a:r>
            <a:r>
              <a:rPr b="0" sz="1300">
                <a:solidFill>
                  <a:srgbClr val="CBD5E1"/>
                </a:solidFill>
                <a:latin typeface="Segoe UI"/>
              </a:rPr>
              <a:t>För att bolla hur man bäst hanterar städtillstånd och skärmorientering med useFocusEffect vid flikbyten.</a:t>
            </a:r>
          </a:p>
          <a:p>
            <a:pPr>
              <a:spcAft>
                <a:spcPts val="800"/>
              </a:spcAft>
            </a:pPr>
            <a:r>
              <a:rPr b="1" sz="1350">
                <a:solidFill>
                  <a:srgbClr val="38BDF8"/>
                </a:solidFill>
                <a:latin typeface="Segoe UI"/>
              </a:rPr>
              <a:t>Problemlösning vid filimport: </a:t>
            </a:r>
            <a:r>
              <a:rPr b="0" sz="1300">
                <a:solidFill>
                  <a:srgbClr val="CBD5E1"/>
                </a:solidFill>
                <a:latin typeface="Segoe UI"/>
              </a:rPr>
              <a:t>Hjälp med att strukturera hur DocumentPicker hanterar lokala URI:er och hur de sparas persistent i AsyncStorage.</a:t>
            </a:r>
          </a:p>
        </p:txBody>
      </p:sp>
      <p:sp>
        <p:nvSpPr>
          <p:cNvPr id="8" name="Rounded Rectangle 7"/>
          <p:cNvSpPr/>
          <p:nvPr/>
        </p:nvSpPr>
        <p:spPr>
          <a:xfrm>
            <a:off x="6217920" y="1828800"/>
            <a:ext cx="5212080" cy="4389120"/>
          </a:xfrm>
          <a:prstGeom prst="roundRect">
            <a:avLst/>
          </a:prstGeom>
          <a:solidFill>
            <a:srgbClr val="182138"/>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93392"/>
            <a:ext cx="4846320" cy="4059936"/>
          </a:xfrm>
          <a:prstGeom prst="rect">
            <a:avLst/>
          </a:prstGeom>
          <a:noFill/>
        </p:spPr>
        <p:txBody>
          <a:bodyPr wrap="square">
            <a:spAutoFit/>
          </a:bodyPr>
          <a:lstStyle/>
          <a:p>
            <a:pPr>
              <a:spcAft>
                <a:spcPts val="1000"/>
              </a:spcAft>
              <a:defRPr sz="1800" b="1">
                <a:solidFill>
                  <a:srgbClr val="F8FAFC"/>
                </a:solidFill>
                <a:latin typeface="Segoe UI"/>
              </a:defRPr>
            </a:pPr>
            <a:r>
              <a:t>Hur koden har verifierats</a:t>
            </a:r>
          </a:p>
          <a:p>
            <a:pPr>
              <a:spcAft>
                <a:spcPts val="800"/>
              </a:spcAft>
            </a:pPr>
            <a:r>
              <a:rPr b="1" sz="1350">
                <a:solidFill>
                  <a:srgbClr val="38BDF8"/>
                </a:solidFill>
                <a:latin typeface="Segoe UI"/>
              </a:rPr>
              <a:t>100% Kodförståelse (AI-regeln): </a:t>
            </a:r>
            <a:r>
              <a:rPr b="0" sz="1300">
                <a:solidFill>
                  <a:srgbClr val="CBD5E1"/>
                </a:solidFill>
                <a:latin typeface="Segoe UI"/>
              </a:rPr>
              <a:t>Enligt kursregeln måste man förstå varje rad. Jag har granskat och förstått varenda funktion och kan redogöra för all kod här idag.</a:t>
            </a:r>
          </a:p>
          <a:p>
            <a:pPr>
              <a:spcAft>
                <a:spcPts val="800"/>
              </a:spcAft>
            </a:pPr>
            <a:r>
              <a:rPr b="1" sz="1350">
                <a:solidFill>
                  <a:srgbClr val="38BDF8"/>
                </a:solidFill>
                <a:latin typeface="Segoe UI"/>
              </a:rPr>
              <a:t>TypeScript-typkontroll: </a:t>
            </a:r>
            <a:r>
              <a:rPr b="0" sz="1300">
                <a:solidFill>
                  <a:srgbClr val="CBD5E1"/>
                </a:solidFill>
                <a:latin typeface="Segoe UI"/>
              </a:rPr>
              <a:t>Kört 'npx tsc --noEmit' löpande för att verifiera att inga typfel eller saknade egenskaper smugit sig in.</a:t>
            </a:r>
          </a:p>
          <a:p>
            <a:pPr>
              <a:spcAft>
                <a:spcPts val="800"/>
              </a:spcAft>
            </a:pPr>
            <a:r>
              <a:rPr b="1" sz="1350">
                <a:solidFill>
                  <a:srgbClr val="38BDF8"/>
                </a:solidFill>
                <a:latin typeface="Segoe UI"/>
              </a:rPr>
              <a:t>Expo Linter: </a:t>
            </a:r>
            <a:r>
              <a:rPr b="0" sz="1300">
                <a:solidFill>
                  <a:srgbClr val="CBD5E1"/>
                </a:solidFill>
                <a:latin typeface="Segoe UI"/>
              </a:rPr>
              <a:t>Kört 'npx expo lint' för att garantera att inga kodstilsproblem, minnesläckor eller dåliga mönster finns kvar.</a:t>
            </a:r>
          </a:p>
          <a:p>
            <a:pPr>
              <a:spcAft>
                <a:spcPts val="800"/>
              </a:spcAft>
            </a:pPr>
            <a:r>
              <a:rPr b="1" sz="1350">
                <a:solidFill>
                  <a:srgbClr val="38BDF8"/>
                </a:solidFill>
                <a:latin typeface="Segoe UI"/>
              </a:rPr>
              <a:t>Skarpt test på hårdvara: </a:t>
            </a:r>
            <a:r>
              <a:rPr b="0" sz="1300">
                <a:solidFill>
                  <a:srgbClr val="CBD5E1"/>
                </a:solidFill>
                <a:latin typeface="Segoe UI"/>
              </a:rPr>
              <a:t>Varje genererad lösning har provkörts direkt på fysisk telefon för att säkerställa att det fungerar i verkligheten.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1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4572000" cy="320040"/>
          </a:xfrm>
          <a:prstGeom prst="rect">
            <a:avLst/>
          </a:prstGeom>
          <a:noFill/>
        </p:spPr>
        <p:txBody>
          <a:bodyPr wrap="square">
            <a:spAutoFit/>
          </a:bodyPr>
          <a:lstStyle/>
          <a:p>
            <a:pPr>
              <a:defRPr sz="1100" b="1">
                <a:solidFill>
                  <a:srgbClr val="34D399"/>
                </a:solidFill>
                <a:latin typeface="Segoe UI"/>
              </a:defRPr>
            </a:pPr>
            <a:r>
              <a:t>SAMMANFATTNING &amp; AVSLUTNING</a:t>
            </a:r>
          </a:p>
        </p:txBody>
      </p:sp>
      <p:sp>
        <p:nvSpPr>
          <p:cNvPr id="4" name="TextBox 3"/>
          <p:cNvSpPr txBox="1"/>
          <p:nvPr/>
        </p:nvSpPr>
        <p:spPr>
          <a:xfrm>
            <a:off x="731520" y="731520"/>
            <a:ext cx="10515600" cy="594360"/>
          </a:xfrm>
          <a:prstGeom prst="rect">
            <a:avLst/>
          </a:prstGeom>
          <a:noFill/>
        </p:spPr>
        <p:txBody>
          <a:bodyPr wrap="square">
            <a:spAutoFit/>
          </a:bodyPr>
          <a:lstStyle/>
          <a:p>
            <a:pPr>
              <a:defRPr sz="2800" b="1">
                <a:solidFill>
                  <a:srgbClr val="F8FAFC"/>
                </a:solidFill>
                <a:latin typeface="Segoe UI"/>
              </a:defRPr>
            </a:pPr>
            <a:r>
              <a:t>Uppfyllda Krav &amp; Frågestund</a:t>
            </a:r>
          </a:p>
        </p:txBody>
      </p:sp>
      <p:sp>
        <p:nvSpPr>
          <p:cNvPr id="5" name="TextBox 4"/>
          <p:cNvSpPr txBox="1"/>
          <p:nvPr/>
        </p:nvSpPr>
        <p:spPr>
          <a:xfrm>
            <a:off x="731520" y="1298448"/>
            <a:ext cx="10515600" cy="365760"/>
          </a:xfrm>
          <a:prstGeom prst="rect">
            <a:avLst/>
          </a:prstGeom>
          <a:noFill/>
        </p:spPr>
        <p:txBody>
          <a:bodyPr wrap="square">
            <a:spAutoFit/>
          </a:bodyPr>
          <a:lstStyle/>
          <a:p>
            <a:pPr>
              <a:defRPr sz="1400">
                <a:solidFill>
                  <a:srgbClr val="94A3B8"/>
                </a:solidFill>
                <a:latin typeface="Segoe UI"/>
              </a:defRPr>
            </a:pPr>
            <a:r>
              <a:t>Fullständig avbockning av kursens krav och tack för visat intresse</a:t>
            </a:r>
          </a:p>
        </p:txBody>
      </p:sp>
      <p:sp>
        <p:nvSpPr>
          <p:cNvPr id="6" name="Rounded Rectangle 5"/>
          <p:cNvSpPr/>
          <p:nvPr/>
        </p:nvSpPr>
        <p:spPr>
          <a:xfrm>
            <a:off x="731520" y="1828800"/>
            <a:ext cx="5120640" cy="4389120"/>
          </a:xfrm>
          <a:prstGeom prst="roundRect">
            <a:avLst/>
          </a:prstGeom>
          <a:solidFill>
            <a:srgbClr val="182138"/>
          </a:solidFill>
          <a:ln w="1905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993392"/>
            <a:ext cx="4754880" cy="4059936"/>
          </a:xfrm>
          <a:prstGeom prst="rect">
            <a:avLst/>
          </a:prstGeom>
          <a:noFill/>
        </p:spPr>
        <p:txBody>
          <a:bodyPr wrap="square">
            <a:spAutoFit/>
          </a:bodyPr>
          <a:lstStyle/>
          <a:p>
            <a:pPr>
              <a:spcAft>
                <a:spcPts val="1000"/>
              </a:spcAft>
              <a:defRPr sz="1800" b="1">
                <a:solidFill>
                  <a:srgbClr val="F8FAFC"/>
                </a:solidFill>
                <a:latin typeface="Segoe UI"/>
              </a:defRPr>
            </a:pPr>
            <a:r>
              <a:t>Checklista: Godkänt (G)</a:t>
            </a:r>
          </a:p>
          <a:p>
            <a:pPr>
              <a:spcAft>
                <a:spcPts val="800"/>
              </a:spcAft>
            </a:pPr>
            <a:r>
              <a:rPr b="1" sz="1350">
                <a:solidFill>
                  <a:srgbClr val="38BDF8"/>
                </a:solidFill>
                <a:latin typeface="Segoe UI"/>
              </a:rPr>
              <a:t>Minst 4 RN-komponenter: </a:t>
            </a:r>
            <a:r>
              <a:rPr b="0" sz="1300">
                <a:solidFill>
                  <a:srgbClr val="CBD5E1"/>
                </a:solidFill>
                <a:latin typeface="Segoe UI"/>
              </a:rPr>
              <a:t>View, Text, Pressable, FlatList, ActivityIndicator (5 st använda).</a:t>
            </a:r>
          </a:p>
          <a:p>
            <a:pPr>
              <a:spcAft>
                <a:spcPts val="800"/>
              </a:spcAft>
            </a:pPr>
            <a:r>
              <a:rPr b="1" sz="1350">
                <a:solidFill>
                  <a:srgbClr val="38BDF8"/>
                </a:solidFill>
                <a:latin typeface="Segoe UI"/>
              </a:rPr>
              <a:t>Minst 4 Expo SDK-moduler: </a:t>
            </a:r>
            <a:r>
              <a:rPr b="0" sz="1300">
                <a:solidFill>
                  <a:srgbClr val="CBD5E1"/>
                </a:solidFill>
                <a:latin typeface="Segoe UI"/>
              </a:rPr>
              <a:t>expo-audio, expo-haptics, expo-screen-orientation, expo-document-picker (4 st tunga enhetsmoduler).</a:t>
            </a:r>
          </a:p>
          <a:p>
            <a:pPr>
              <a:spcAft>
                <a:spcPts val="800"/>
              </a:spcAft>
            </a:pPr>
            <a:r>
              <a:rPr b="1" sz="1350">
                <a:solidFill>
                  <a:srgbClr val="38BDF8"/>
                </a:solidFill>
                <a:latin typeface="Segoe UI"/>
              </a:rPr>
              <a:t>Expo Router &amp; Parameter: </a:t>
            </a:r>
            <a:r>
              <a:rPr b="0" sz="1300">
                <a:solidFill>
                  <a:srgbClr val="CBD5E1"/>
                </a:solidFill>
                <a:latin typeface="Segoe UI"/>
              </a:rPr>
              <a:t>Tabs-layout och dynamisk rutt /song/[id] med useLocalSearchParams.</a:t>
            </a:r>
          </a:p>
          <a:p>
            <a:pPr>
              <a:spcAft>
                <a:spcPts val="800"/>
              </a:spcAft>
            </a:pPr>
            <a:r>
              <a:rPr b="1" sz="1350">
                <a:solidFill>
                  <a:srgbClr val="38BDF8"/>
                </a:solidFill>
                <a:latin typeface="Segoe UI"/>
              </a:rPr>
              <a:t>Git &amp; GitHub: </a:t>
            </a:r>
            <a:r>
              <a:rPr b="0" sz="1300">
                <a:solidFill>
                  <a:srgbClr val="CBD5E1"/>
                </a:solidFill>
                <a:latin typeface="Segoe UI"/>
              </a:rPr>
              <a:t>Löpande commits genom hela projektet i publikt repo.</a:t>
            </a:r>
          </a:p>
          <a:p>
            <a:pPr>
              <a:spcAft>
                <a:spcPts val="800"/>
              </a:spcAft>
            </a:pPr>
            <a:r>
              <a:rPr b="1" sz="1350">
                <a:solidFill>
                  <a:srgbClr val="38BDF8"/>
                </a:solidFill>
                <a:latin typeface="Segoe UI"/>
              </a:rPr>
              <a:t>README.md: </a:t>
            </a:r>
            <a:r>
              <a:rPr b="0" sz="1300">
                <a:solidFill>
                  <a:srgbClr val="CBD5E1"/>
                </a:solidFill>
                <a:latin typeface="Segoe UI"/>
              </a:rPr>
              <a:t>Komplett dokumentation med instruktioner och moduler.</a:t>
            </a:r>
          </a:p>
          <a:p>
            <a:pPr>
              <a:spcAft>
                <a:spcPts val="800"/>
              </a:spcAft>
            </a:pPr>
            <a:r>
              <a:rPr b="1" sz="1350">
                <a:solidFill>
                  <a:srgbClr val="38BDF8"/>
                </a:solidFill>
                <a:latin typeface="Segoe UI"/>
              </a:rPr>
              <a:t>Presentation: </a:t>
            </a:r>
            <a:r>
              <a:rPr b="0" sz="1300">
                <a:solidFill>
                  <a:srgbClr val="CBD5E1"/>
                </a:solidFill>
                <a:latin typeface="Segoe UI"/>
              </a:rPr>
              <a:t>Genomförd med live-demo och reflektion.</a:t>
            </a:r>
          </a:p>
        </p:txBody>
      </p:sp>
      <p:sp>
        <p:nvSpPr>
          <p:cNvPr id="8" name="Rounded Rectangle 7"/>
          <p:cNvSpPr/>
          <p:nvPr/>
        </p:nvSpPr>
        <p:spPr>
          <a:xfrm>
            <a:off x="6217920" y="1828800"/>
            <a:ext cx="5212080" cy="4389120"/>
          </a:xfrm>
          <a:prstGeom prst="roundRect">
            <a:avLst/>
          </a:prstGeom>
          <a:solidFill>
            <a:srgbClr val="182138"/>
          </a:solidFill>
          <a:ln w="19050">
            <a:solidFill>
              <a:srgbClr val="FB923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993392"/>
            <a:ext cx="4846320" cy="4059936"/>
          </a:xfrm>
          <a:prstGeom prst="rect">
            <a:avLst/>
          </a:prstGeom>
          <a:noFill/>
        </p:spPr>
        <p:txBody>
          <a:bodyPr wrap="square">
            <a:spAutoFit/>
          </a:bodyPr>
          <a:lstStyle/>
          <a:p>
            <a:pPr>
              <a:spcAft>
                <a:spcPts val="1000"/>
              </a:spcAft>
              <a:defRPr sz="1800" b="1">
                <a:solidFill>
                  <a:srgbClr val="F8FAFC"/>
                </a:solidFill>
                <a:latin typeface="Segoe UI"/>
              </a:defRPr>
            </a:pPr>
            <a:r>
              <a:t>Checklista: Väl Godkänt (VG)</a:t>
            </a:r>
          </a:p>
          <a:p>
            <a:pPr>
              <a:spcAft>
                <a:spcPts val="800"/>
              </a:spcAft>
            </a:pPr>
            <a:r>
              <a:rPr b="1" sz="1350">
                <a:solidFill>
                  <a:srgbClr val="38BDF8"/>
                </a:solidFill>
                <a:latin typeface="Segoe UI"/>
              </a:rPr>
              <a:t>Externa moduler (directory): </a:t>
            </a:r>
            <a:r>
              <a:rPr b="0" sz="1300">
                <a:solidFill>
                  <a:srgbClr val="CBD5E1"/>
                </a:solidFill>
                <a:latin typeface="Segoe UI"/>
              </a:rPr>
              <a:t>@react-native-async-storage/async-storage &amp; @react-native-community/slider (2 st använda).</a:t>
            </a:r>
          </a:p>
          <a:p>
            <a:pPr>
              <a:spcAft>
                <a:spcPts val="800"/>
              </a:spcAft>
            </a:pPr>
            <a:r>
              <a:rPr b="1" sz="1350">
                <a:solidFill>
                  <a:srgbClr val="38BDF8"/>
                </a:solidFill>
                <a:latin typeface="Segoe UI"/>
              </a:rPr>
              <a:t>Hämta data från Web-API: </a:t>
            </a:r>
            <a:r>
              <a:rPr b="0" sz="1300">
                <a:solidFill>
                  <a:srgbClr val="CBD5E1"/>
                </a:solidFill>
                <a:latin typeface="Segoe UI"/>
              </a:rPr>
              <a:t>Open Trivia Database integrerat via fetch() i trivia.tsx för sportfrågor.</a:t>
            </a:r>
          </a:p>
          <a:p>
            <a:pPr>
              <a:spcAft>
                <a:spcPts val="800"/>
              </a:spcAft>
            </a:pPr>
            <a:r>
              <a:rPr b="1" sz="1350">
                <a:solidFill>
                  <a:srgbClr val="38BDF8"/>
                </a:solidFill>
                <a:latin typeface="Segoe UI"/>
              </a:rPr>
              <a:t>AI-dokumentation: </a:t>
            </a:r>
            <a:r>
              <a:rPr b="0" sz="1300">
                <a:solidFill>
                  <a:srgbClr val="CBD5E1"/>
                </a:solidFill>
                <a:latin typeface="Segoe UI"/>
              </a:rPr>
              <a:t>Fullständigt redogjord i README och i presentationen.</a:t>
            </a:r>
          </a:p>
          <a:p>
            <a:pPr>
              <a:spcAft>
                <a:spcPts val="800"/>
              </a:spcAft>
            </a:pPr>
            <a:r>
              <a:rPr b="1" sz="1350">
                <a:solidFill>
                  <a:srgbClr val="38BDF8"/>
                </a:solidFill>
                <a:latin typeface="Segoe UI"/>
              </a:rPr>
              <a:t>Sammanfattning: </a:t>
            </a:r>
            <a:r>
              <a:rPr b="0" sz="1300">
                <a:solidFill>
                  <a:srgbClr val="CBD5E1"/>
                </a:solidFill>
                <a:latin typeface="Segoe UI"/>
              </a:rPr>
              <a:t>Appen uppfyller samtliga krav för VG och löser ett genuint problem för innebandyföreningar!</a:t>
            </a:r>
          </a:p>
          <a:p>
            <a:pPr>
              <a:spcAft>
                <a:spcPts val="800"/>
              </a:spcAft>
            </a:pPr>
            <a:r>
              <a:rPr b="1" sz="1350">
                <a:solidFill>
                  <a:srgbClr val="38BDF8"/>
                </a:solidFill>
                <a:latin typeface="Segoe UI"/>
              </a:rPr>
              <a:t>🎤 Frågor? </a:t>
            </a:r>
            <a:r>
              <a:rPr b="0" sz="1300">
                <a:solidFill>
                  <a:srgbClr val="CBD5E1"/>
                </a:solidFill>
                <a:latin typeface="Segoe UI"/>
              </a:rPr>
              <a:t>Tack så mycket för er uppmärksamhet! Vad undrar ni?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