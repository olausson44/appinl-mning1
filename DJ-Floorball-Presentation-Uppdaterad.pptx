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1: INTRO (ca 1 min)]</a:t>
            </a:r>
          </a:p>
          <a:p>
            <a:r>
              <a:t>Hej allihopa och hej läraren!</a:t>
            </a:r>
          </a:p>
          <a:p>
            <a:r>
              <a:t>Idag presenterar jag DJ-Floorball – en mobilapp byggd med React Native, Expo och TypeScript.</a:t>
            </a:r>
          </a:p>
          <a:p>
            <a:r>
              <a:t>Syftet med appen är att lösa en stressig situation i innebandysekretariatet: att sköta musiken och ljudeffekterna vid mål och utvisningar snabbt och felfritt direkt från mobilen.</a:t>
            </a:r>
          </a:p>
          <a:p>
            <a:r>
              <a:t>Under presentationen ska jag visa appen live i Expo Go, gå igenom hur jag strukturerat koden – särskilt hur jag byggt en reaktiv ljudarkitektur som hindrar ljudkrockar och växlar play/stop dynamiskt – och avsluta med reflektion och mina uppfyllda VG-krav.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2: BAKGRUND (ca 1.5 min)]</a:t>
            </a:r>
          </a:p>
          <a:p>
            <a:r>
              <a:t>Alla som suttit i ett innebandysekretariat vet hur stressigt det kan vara. Du ska starta och stoppa klockan på signal, hantera utvisningar och samtidigt spela rätt musik.</a:t>
            </a:r>
          </a:p>
          <a:p>
            <a:r>
              <a:t>Problemet med att köra Spotify på en dator eller mobil är att man måste scrolla, låtar har långa intron och man hinner inte få igång mållåten innan domaren blåser igång spelet igen.</a:t>
            </a:r>
          </a:p>
          <a:p>
            <a:r>
              <a:t>DJ-Floorball löser detta genom stora färgkodade knappar, förinställda cue-points så att musiken startar direkt vid refrängen, automatisk skärmrotation för stora tryckytor och haptisk feedback i handen.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3: LIVE DEMO (ca 2.5 min)]</a:t>
            </a:r>
          </a:p>
          <a:p>
            <a:r>
              <a:t>[VISA APPEN LIVE PÅ TELEFONEN I EXPO GO!]</a:t>
            </a:r>
          </a:p>
          <a:p>
            <a:r>
              <a:t>Låt oss kika på appen i praktiken!</a:t>
            </a:r>
          </a:p>
          <a:p>
            <a:r>
              <a:t>1. Titta vad som händer när jag klickar på Soundboard: appen roterar direkt till liggande läge. Här har jag jättestora knappar för Mål, Utvisning och Paus.</a:t>
            </a:r>
          </a:p>
          <a:p>
            <a:r>
              <a:t>Lägg märke till att när jag trycker på Paus startar musiken, bakgrundsfärgen skiftar direkt till rött och ikonen växlar från play till stop. Trycker jag på Mål tystnar paussången automatiskt och mållåten drar igång – inga ljud krockar!</a:t>
            </a:r>
          </a:p>
          <a:p>
            <a:r>
              <a:t>2. När jag klickar över till Spellistan roterar den sömlöst till stående läge. Här har jag en FlatList med kategorifilter och en knapp för att importera egna filer.</a:t>
            </a:r>
          </a:p>
          <a:p>
            <a:r>
              <a:t>3. Klickar jag in på en låt ser ni detaljvyn. Med skjutreglaget kan jag välja exakt startsekund och spara.</a:t>
            </a:r>
          </a:p>
          <a:p>
            <a:r>
              <a:t>4. Till sist har vi Pausfråga med live sportfrågor.</a:t>
            </a:r>
          </a:p>
          <a:p>
            <a:r>
              <a:t>Nu ska vi dyka ner i koden och se exakt hur ljudarkitekturen och de dynamiska knapparna är byggda!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4: EXPO ROUTER (ca 1 min)]</a:t>
            </a:r>
          </a:p>
          <a:p>
            <a:r>
              <a:t>För navigeringen använder jag Expo Router. I _layout.tsx har jag mina huvudflikar, och detaljskärmen döljs med href: null för att hålla menyn ren.</a:t>
            </a:r>
          </a:p>
          <a:p>
            <a:r>
              <a:t>Kravet att ta emot en parameter uppfylls i song/[id].tsx där useLocalSearchParams hämtar låtens ID och slår upp rätt ljudspår och cue-points.</a:t>
            </a:r>
          </a:p>
          <a:p>
            <a:r>
              <a:t>Expo Router är ett eget krav och räknas inte in bland mina Expo SDK-moduler.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5: EXPO-AUDIO &amp; ARKITEKTUR (ca 2 min)]</a:t>
            </a:r>
          </a:p>
          <a:p>
            <a:r>
              <a:t>Här vill jag göra en riktig djupdykning i appens viktigaste tekniska del: expo-audio och hur jag hanterat spelararkitekturen.</a:t>
            </a:r>
          </a:p>
          <a:p>
            <a:r>
              <a:t>En vanlig fallgrop i musik-appar är att man råkar starta flera låtar samtidigt så det blir ett fruktansvärt oväsen.</a:t>
            </a:r>
          </a:p>
          <a:p>
            <a:r>
              <a:t>För att lösa det har jag designat komponenten med en 'singulär spelarinstans'. Jag har bara en enda useAudioPlayer i hela komponenten.</a:t>
            </a:r>
          </a:p>
          <a:p>
            <a:r>
              <a:t>När funktionären trycker på en knapp – säg 'Mål' medan en pauslåt redan rullar – kör koden player.replace(). Då tystnar den förra låten omedelbart och den nya laddas in. Det är alltså tekniskt omöjligt att två låtar spelas samtidigt!</a:t>
            </a:r>
          </a:p>
          <a:p/>
          <a:p>
            <a:r>
              <a:t>Men hur vet gränssnittet vilken knapp som spelar, och hur växlar den mellan Play och Stopp?</a:t>
            </a:r>
          </a:p>
          <a:p>
            <a:r>
              <a:t>Det löser jag reaktivt:</a:t>
            </a:r>
          </a:p>
          <a:p>
            <a:r>
              <a:t>Med useAudioPlayerStatus får jag variabeln status.playing.</a:t>
            </a:r>
          </a:p>
          <a:p>
            <a:r>
              <a:t>Samtidigt har jag ett React-state som heter activeButton, som håller reda på om det är 'break', 'goal' eller 'penalty' som aktiverats.</a:t>
            </a:r>
          </a:p>
          <a:p>
            <a:r>
              <a:t>Då kan jag räkna ut isBreakPlaying som status.playing OCH activeButton === 'break'.</a:t>
            </a:r>
          </a:p>
          <a:p/>
          <a:p>
            <a:r>
              <a:t>I JSX använder jag sedan ternary operators för att styra hela utseendet:</a:t>
            </a:r>
          </a:p>
          <a:p>
            <a:r>
              <a:t>Är isBreakPlaying sant? Då blir bakgrundsfärgen röd (#ef4444), ikonen blir en stopp-fyrkant och texten visar 'STOPP'.</a:t>
            </a:r>
          </a:p>
          <a:p>
            <a:r>
              <a:t>Är den inte aktiv? Då är den grön med en play-triangel.</a:t>
            </a:r>
          </a:p>
          <a:p>
            <a:r>
              <a:t>Och med player.seekTo spolar spelaren direkt till min sparade cue-point vid droppet. Det här ger en otroligt responsiv och stabil spelarupplevelse!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6: EXPO-SCREEN-ORIENTATION (ca 1.5 min)]</a:t>
            </a:r>
          </a:p>
          <a:p>
            <a:r>
              <a:t>Min andra huvudmodul är expo-screen-orientation.</a:t>
            </a:r>
          </a:p>
          <a:p>
            <a:r>
              <a:t>Den valde jag för att den är extremt visuell och visar hur en mobilapp kan utnyttja hårdvaran för en överlägsen användarupplevelse.</a:t>
            </a:r>
          </a:p>
          <a:p>
            <a:r>
              <a:t>Modulen erbjuder funktioner som:</a:t>
            </a:r>
          </a:p>
          <a:p>
            <a:r>
              <a:t>- lockAsync(), vilket tvingar skärmen i ett visst läge oavsett om användaren har telefonens allmänna skärmlås påslaget.</a:t>
            </a:r>
          </a:p>
          <a:p>
            <a:r>
              <a:t>- OrientationLock.LANDSCAPE för liggande läge och PORTRAIT_UP för stående läge.</a:t>
            </a:r>
          </a:p>
          <a:p>
            <a:r>
              <a:t>- unlockAsync() och addOrientationChangeListener för att hantera fri rotation.</a:t>
            </a:r>
          </a:p>
          <a:p>
            <a:r>
              <a:t>I mitt projekt anropar jag lockAsync inuti useFocusEffect.</a:t>
            </a:r>
          </a:p>
          <a:p>
            <a:r>
              <a:t>På Soundboarden låser jag den till LANDSCAPE för att ge jättestora knappar som är enkla att träffa i matchstress. Men så fort användaren klickar till Spellistan låser jag den direkt till PORTRAIT_UP så att man kan scrolla naturligt med en hand. Detta sker helt automatiskt vid flikbyte!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7: ÖVRIGA MODULER (ca 1 min)]</a:t>
            </a:r>
          </a:p>
          <a:p>
            <a:r>
              <a:t>För att uppfylla kravet på minst 4 Expo SDK-moduler har jag även använt två till:</a:t>
            </a:r>
          </a:p>
          <a:p>
            <a:r>
              <a:t>Modul 3 är expo-haptics. Med Haptics.impactAsync får funktionären en fysisk vibration i fingret varje gång en knapp trycks ned på soundboarden. Det ger en direkt bekräftelse i en bullrig sporthall.</a:t>
            </a:r>
          </a:p>
          <a:p>
            <a:r>
              <a:t>Modul 4 är expo-document-picker. Med DocumentPicker.getDocumentAsync kan föreningar importera sina egna mållåtar i MP3-format direkt från telefonens filhanterare.</a:t>
            </a:r>
          </a:p>
          <a:p>
            <a:r>
              <a:t>Därmed har vi fyra tydliga hårdvarunära Expo-moduler som alla har en konkret funktion i appen!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8: REACT NATIVE-KOMPONENTER (ca 1 min)]</a:t>
            </a:r>
          </a:p>
          <a:p>
            <a:r>
              <a:t>Kravet för godkänt är att använda minst 4 komponenter från React Native. Jag använder 5:</a:t>
            </a:r>
          </a:p>
          <a:p>
            <a:r>
              <a:t>View för flexbox-layout, Text för typografi, Pressable för responsiva knappar, FlatList för en snabb spellista och ActivityIndicator som laddningssnurra i frågesporten.</a:t>
            </a:r>
          </a:p>
          <a:p>
            <a:r>
              <a:t>Jag har noga undvikit att räkna StyleSheet eller Alert som komponenter eftersom de är API:er.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9: ASYNCSTORAGE, SLIDER &amp; VG-KRAV (ca 2.5 min)]</a:t>
            </a:r>
          </a:p>
          <a:p>
            <a:r>
              <a:t>För kraven för Väl Godkänt krävs minst en extern modul från reactnative.directory och ett fungerande Web-API.</a:t>
            </a:r>
          </a:p>
          <a:p>
            <a:r>
              <a:t>Jag har använt två externa moduler: AsyncStorage och Community Slider, och här vill jag förklara hur de fungerar och samverkar:</a:t>
            </a:r>
          </a:p>
          <a:p/>
          <a:p>
            <a:r>
              <a:t>1. HUR FUNGERAR ASYNCSTORAGE?</a:t>
            </a:r>
          </a:p>
          <a:p>
            <a:r>
              <a:t>AsyncStorage är mobilens motsvarighet till webbens localStorage – en lokal databas som sparar data direkt på telefonens fysiska disk så att den överlever app-omstarter.</a:t>
            </a:r>
          </a:p>
          <a:p>
            <a:r>
              <a:t>Skillnaden mot webben är att AsyncStorage är helt asynkront och icke-blockerande. Alla metoder – setItem och getItem – returnerar Promises och hanteras med async/await så att appens gränssnitt aldrig låser sig.</a:t>
            </a:r>
          </a:p>
          <a:p>
            <a:r>
              <a:t>Eftersom modulen bara lagrar strängar gör jag två saker:</a:t>
            </a:r>
          </a:p>
          <a:p>
            <a:r>
              <a:t>- För starttider sparar jag sekunden som sträng under nyckeln marker_${song.id} och läser ut den med parseFloat.</a:t>
            </a:r>
          </a:p>
          <a:p>
            <a:r>
              <a:t>- För egna importerade låtar gör jag JSON-serialisering med JSON.stringify() när jag sparar listan och JSON.parse() när jag läser in den vid appstart.</a:t>
            </a:r>
          </a:p>
          <a:p>
            <a:r>
              <a:t>- Jag sparar även last_break_index så att kön inte återställs till låt 1 varje gång appen öppnas.</a:t>
            </a:r>
          </a:p>
          <a:p/>
          <a:p>
            <a:r>
              <a:t>2. HUR FUNGERAR COMMUNITY SLIDER?</a:t>
            </a:r>
          </a:p>
          <a:p>
            <a:r>
              <a:t>Slidern har plockats bort ur React Natives standardpaket och måste installeras från reactnative.directory. Den samverkar tätt med ljudmotorn:</a:t>
            </a:r>
          </a:p>
          <a:p>
            <a:r>
              <a:t>- Dynamisk längd: Jag sätter maximumValue dynamiskt baserat på status.duration. Det betyder att reglaget anpassar sig exakt efter hur lång just den här ljudfilen är!</a:t>
            </a:r>
          </a:p>
          <a:p>
            <a:r>
              <a:t>- Viktig prestandadetalj: Jag skiljer noga på onValueChange och onSlidingComplete. Om man hade spolat ljudet under onValueChange medan man drar hade telefonen försökt byta ljudposition hundra gånger i sekunden, vilket skapar hackande ljud och lagg. Därför uppdaterar onValueChange bara siffran på skärmen, medan onSlidingComplete kör player.seekTo() först när man släpper fingret så man kan provlyssna på droppet!</a:t>
            </a:r>
          </a:p>
          <a:p>
            <a:r>
              <a:t>- När man är nöjd sparar SAVE-knappen tiden till AsyncStorage.</a:t>
            </a:r>
          </a:p>
          <a:p/>
          <a:p>
            <a:r>
              <a:t>3. WEB-API (TRIVIA):</a:t>
            </a:r>
          </a:p>
          <a:p>
            <a:r>
              <a:t>Till sist anropar jag ett öppet REST-API – Open Trivia Database – i trivia.tsx via fetch() för att hämta sportfrågor och svarsalternativ under pauserna.</a:t>
            </a:r>
          </a:p>
          <a:p>
            <a:r>
              <a:t>Detta binder ihop data, hårdvarulagring och nätverk och uppfyller alla VG-krav!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10: ARBETSPROCESS (ca 1 min)]</a:t>
            </a:r>
          </a:p>
          <a:p>
            <a:r>
              <a:t>Jag har arbetat strikt mobil-först. Genom att ha telefonen uppkopplad mot Expo Go under hela resan kunde jag direkt känna hur haptiken kändes i handen och hur rotationen betedde sig.</a:t>
            </a:r>
          </a:p>
          <a:p>
            <a:r>
              <a:t>I Git har jag committat löpande under hela projektet med tydliga meddelanden för varje feature, och koden har verifierats kontinuerligt med TypeScript och linting.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11: REFLEKTION &amp; AI (ca 1.5 min)]</a:t>
            </a:r>
          </a:p>
          <a:p>
            <a:r>
              <a:t>Den största tekniska utmaningen var expo-audio, eftersom modulen är så ny och saknar äldre dokumentation på nätet. Det krävdes en del testande för att få seekTo att tajma perfekt vid byte av låt. Om jag byggde om appen idag skulle jag ha lyft ut spelaren i en global Context så att musiken inte behöver tystna när man byter flik.</a:t>
            </a:r>
          </a:p>
          <a:p>
            <a:r>
              <a:t>När det gäller AI har jag använt Antigravity som parprogrammerare, främst för att navigera de nya hookarna i SDK 52. Jag har varit extremt noga med att förstå och verifiera varje enskild kodrad med TypeScript, linter och tester på min mobil. Jag kan förklara varje funktion i projektet.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12: AVSLUTNING (ca 1 min)]</a:t>
            </a:r>
          </a:p>
          <a:p>
            <a:r>
              <a:t>För att summera:</a:t>
            </a:r>
          </a:p>
          <a:p>
            <a:r>
              <a:t>Projektet uppfyller samtliga krav för både Godkänt och Väl Godkänt – fem komponenter, fyra Expo-moduler med djupdykning i ljud och rotation, dynamisk Expo Router-navigering, två externa paket, ett fungerande Web-API och noggrann AI-dokumentation.</a:t>
            </a:r>
          </a:p>
          <a:p>
            <a:r>
              <a:t>Framförallt fungerar appen i verkligheten och löser ett genuint problem för innebandyföreningar.</a:t>
            </a:r>
          </a:p>
          <a:p>
            <a:r>
              <a:t>Tack så mycket för att ni lyssnade, och nu tar jag gärna emot frågor från er och läraren!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188720"/>
            <a:ext cx="2926080" cy="347472"/>
          </a:xfrm>
          <a:prstGeom prst="roundRect">
            <a:avLst/>
          </a:prstGeom>
          <a:solidFill>
            <a:srgbClr val="111E34"/>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SUVNET25 • INLÄMNING 1</a:t>
            </a:r>
          </a:p>
        </p:txBody>
      </p:sp>
      <p:sp>
        <p:nvSpPr>
          <p:cNvPr id="4" name="TextBox 3"/>
          <p:cNvSpPr txBox="1"/>
          <p:nvPr/>
        </p:nvSpPr>
        <p:spPr>
          <a:xfrm>
            <a:off x="731520" y="1691640"/>
            <a:ext cx="10515600" cy="1554480"/>
          </a:xfrm>
          <a:prstGeom prst="rect">
            <a:avLst/>
          </a:prstGeom>
          <a:noFill/>
        </p:spPr>
        <p:txBody>
          <a:bodyPr wrap="none">
            <a:spAutoFit/>
          </a:bodyPr>
          <a:lstStyle/>
          <a:p>
            <a:pPr>
              <a:defRPr sz="4600" b="1">
                <a:solidFill>
                  <a:srgbClr val="FFFFFF"/>
                </a:solidFill>
                <a:latin typeface="Segoe UI"/>
              </a:defRPr>
            </a:pPr>
            <a:r>
              <a:t>DJ-Floorball 🏑</a:t>
            </a:r>
          </a:p>
          <a:p>
            <a:pPr>
              <a:spcBef>
                <a:spcPts val="800"/>
              </a:spcBef>
              <a:defRPr sz="2100">
                <a:solidFill>
                  <a:srgbClr val="FB923C"/>
                </a:solidFill>
                <a:latin typeface="Segoe UI"/>
              </a:defRPr>
            </a:pPr>
            <a:r>
              <a:t>Mobil match-DJ &amp; soundboard för innebandysekretariatet</a:t>
            </a:r>
          </a:p>
        </p:txBody>
      </p:sp>
      <p:sp>
        <p:nvSpPr>
          <p:cNvPr id="5" name="Rounded Rectangle 4"/>
          <p:cNvSpPr/>
          <p:nvPr/>
        </p:nvSpPr>
        <p:spPr>
          <a:xfrm>
            <a:off x="731520" y="3749039"/>
            <a:ext cx="3291840" cy="2286000"/>
          </a:xfrm>
          <a:prstGeom prst="roundRect">
            <a:avLst/>
          </a:prstGeom>
          <a:solidFill>
            <a:srgbClr val="111827"/>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913631"/>
            <a:ext cx="2834640" cy="1956816"/>
          </a:xfrm>
          <a:prstGeom prst="rect">
            <a:avLst/>
          </a:prstGeom>
          <a:noFill/>
        </p:spPr>
        <p:txBody>
          <a:bodyPr wrap="square">
            <a:spAutoFit/>
          </a:bodyPr>
          <a:lstStyle/>
          <a:p>
            <a:pPr>
              <a:spcAft>
                <a:spcPts val="1000"/>
              </a:spcAft>
              <a:defRPr sz="1700" b="1">
                <a:solidFill>
                  <a:srgbClr val="FFFFFF"/>
                </a:solidFill>
                <a:latin typeface="Segoe UI"/>
              </a:defRPr>
            </a:pPr>
            <a:r>
              <a:t>Teknisk Stack</a:t>
            </a:r>
          </a:p>
          <a:p>
            <a:pPr>
              <a:spcAft>
                <a:spcPts val="700"/>
              </a:spcAft>
            </a:pPr>
            <a:r>
              <a:rPr b="1" sz="1300">
                <a:solidFill>
                  <a:srgbClr val="38BDF8"/>
                </a:solidFill>
                <a:latin typeface="Segoe UI"/>
              </a:rPr>
              <a:t>• </a:t>
            </a:r>
            <a:r>
              <a:rPr b="0" sz="1200">
                <a:solidFill>
                  <a:srgbClr val="D1D5DB"/>
                </a:solidFill>
                <a:latin typeface="Segoe UI"/>
              </a:rPr>
              <a:t>React Native &amp; TypeScript</a:t>
            </a:r>
          </a:p>
          <a:p>
            <a:pPr>
              <a:spcAft>
                <a:spcPts val="700"/>
              </a:spcAft>
            </a:pPr>
            <a:r>
              <a:rPr b="1" sz="1300">
                <a:solidFill>
                  <a:srgbClr val="38BDF8"/>
                </a:solidFill>
                <a:latin typeface="Segoe UI"/>
              </a:rPr>
              <a:t>• </a:t>
            </a:r>
            <a:r>
              <a:rPr b="0" sz="1200">
                <a:solidFill>
                  <a:srgbClr val="D1D5DB"/>
                </a:solidFill>
                <a:latin typeface="Segoe UI"/>
              </a:rPr>
              <a:t>Expo SDK 52 &amp; Expo Router</a:t>
            </a:r>
          </a:p>
          <a:p>
            <a:pPr>
              <a:spcAft>
                <a:spcPts val="700"/>
              </a:spcAft>
            </a:pPr>
            <a:r>
              <a:rPr b="1" sz="1300">
                <a:solidFill>
                  <a:srgbClr val="38BDF8"/>
                </a:solidFill>
                <a:latin typeface="Segoe UI"/>
              </a:rPr>
              <a:t>• </a:t>
            </a:r>
            <a:r>
              <a:rPr b="0" sz="1200">
                <a:solidFill>
                  <a:srgbClr val="D1D5DB"/>
                </a:solidFill>
                <a:latin typeface="Segoe UI"/>
              </a:rPr>
              <a:t>Fokus: expo-audio &amp; orientation</a:t>
            </a:r>
          </a:p>
          <a:p>
            <a:pPr>
              <a:spcAft>
                <a:spcPts val="700"/>
              </a:spcAft>
            </a:pPr>
            <a:r>
              <a:rPr b="1" sz="1300">
                <a:solidFill>
                  <a:srgbClr val="38BDF8"/>
                </a:solidFill>
                <a:latin typeface="Segoe UI"/>
              </a:rPr>
              <a:t>• </a:t>
            </a:r>
            <a:r>
              <a:rPr b="0" sz="1200">
                <a:solidFill>
                  <a:srgbClr val="D1D5DB"/>
                </a:solidFill>
                <a:latin typeface="Segoe UI"/>
              </a:rPr>
              <a:t>Reaktiv arkitektur &amp; Web-API</a:t>
            </a:r>
          </a:p>
        </p:txBody>
      </p:sp>
      <p:sp>
        <p:nvSpPr>
          <p:cNvPr id="7" name="Rounded Rectangle 6"/>
          <p:cNvSpPr/>
          <p:nvPr/>
        </p:nvSpPr>
        <p:spPr>
          <a:xfrm>
            <a:off x="4297680" y="3749039"/>
            <a:ext cx="3291840" cy="2286000"/>
          </a:xfrm>
          <a:prstGeom prst="roundRect">
            <a:avLst/>
          </a:prstGeom>
          <a:solidFill>
            <a:srgbClr val="111827"/>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3913631"/>
            <a:ext cx="2834640" cy="1956816"/>
          </a:xfrm>
          <a:prstGeom prst="rect">
            <a:avLst/>
          </a:prstGeom>
          <a:noFill/>
        </p:spPr>
        <p:txBody>
          <a:bodyPr wrap="square">
            <a:spAutoFit/>
          </a:bodyPr>
          <a:lstStyle/>
          <a:p>
            <a:pPr>
              <a:spcAft>
                <a:spcPts val="1000"/>
              </a:spcAft>
              <a:defRPr sz="1700" b="1">
                <a:solidFill>
                  <a:srgbClr val="FFFFFF"/>
                </a:solidFill>
                <a:latin typeface="Segoe UI"/>
              </a:defRPr>
            </a:pPr>
            <a:r>
              <a:t>Lösning &amp; Syfte</a:t>
            </a:r>
          </a:p>
          <a:p>
            <a:pPr>
              <a:spcAft>
                <a:spcPts val="700"/>
              </a:spcAft>
            </a:pPr>
            <a:r>
              <a:rPr b="1" sz="1300">
                <a:solidFill>
                  <a:srgbClr val="38BDF8"/>
                </a:solidFill>
                <a:latin typeface="Segoe UI"/>
              </a:rPr>
              <a:t>• </a:t>
            </a:r>
            <a:r>
              <a:rPr b="0" sz="1200">
                <a:solidFill>
                  <a:srgbClr val="D1D5DB"/>
                </a:solidFill>
                <a:latin typeface="Segoe UI"/>
              </a:rPr>
              <a:t>Byggd för matchsekretariatet</a:t>
            </a:r>
          </a:p>
          <a:p>
            <a:pPr>
              <a:spcAft>
                <a:spcPts val="700"/>
              </a:spcAft>
            </a:pPr>
            <a:r>
              <a:rPr b="1" sz="1300">
                <a:solidFill>
                  <a:srgbClr val="38BDF8"/>
                </a:solidFill>
                <a:latin typeface="Segoe UI"/>
              </a:rPr>
              <a:t>• </a:t>
            </a:r>
            <a:r>
              <a:rPr b="0" sz="1200">
                <a:solidFill>
                  <a:srgbClr val="D1D5DB"/>
                </a:solidFill>
                <a:latin typeface="Segoe UI"/>
              </a:rPr>
              <a:t>Eliminerar stress under match</a:t>
            </a:r>
          </a:p>
          <a:p>
            <a:pPr>
              <a:spcAft>
                <a:spcPts val="700"/>
              </a:spcAft>
            </a:pPr>
            <a:r>
              <a:rPr b="1" sz="1300">
                <a:solidFill>
                  <a:srgbClr val="38BDF8"/>
                </a:solidFill>
                <a:latin typeface="Segoe UI"/>
              </a:rPr>
              <a:t>• </a:t>
            </a:r>
            <a:r>
              <a:rPr b="0" sz="1200">
                <a:solidFill>
                  <a:srgbClr val="D1D5DB"/>
                </a:solidFill>
                <a:latin typeface="Segoe UI"/>
              </a:rPr>
              <a:t>Omedelbar respons på mål/utvisning</a:t>
            </a:r>
          </a:p>
          <a:p>
            <a:pPr>
              <a:spcAft>
                <a:spcPts val="700"/>
              </a:spcAft>
            </a:pPr>
            <a:r>
              <a:rPr b="1" sz="1300">
                <a:solidFill>
                  <a:srgbClr val="38BDF8"/>
                </a:solidFill>
                <a:latin typeface="Segoe UI"/>
              </a:rPr>
              <a:t>• </a:t>
            </a:r>
            <a:r>
              <a:rPr b="0" sz="1200">
                <a:solidFill>
                  <a:srgbClr val="D1D5DB"/>
                </a:solidFill>
                <a:latin typeface="Segoe UI"/>
              </a:rPr>
              <a:t>Stora knappar &amp; haptisk feedback</a:t>
            </a:r>
          </a:p>
        </p:txBody>
      </p:sp>
      <p:sp>
        <p:nvSpPr>
          <p:cNvPr id="9" name="Rounded Rectangle 8"/>
          <p:cNvSpPr/>
          <p:nvPr/>
        </p:nvSpPr>
        <p:spPr>
          <a:xfrm>
            <a:off x="7863840" y="3749039"/>
            <a:ext cx="3566160" cy="2286000"/>
          </a:xfrm>
          <a:prstGeom prst="roundRect">
            <a:avLst/>
          </a:prstGeom>
          <a:solidFill>
            <a:srgbClr val="111827"/>
          </a:solidFill>
          <a:ln w="1524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3913631"/>
            <a:ext cx="3108960" cy="1956816"/>
          </a:xfrm>
          <a:prstGeom prst="rect">
            <a:avLst/>
          </a:prstGeom>
          <a:noFill/>
        </p:spPr>
        <p:txBody>
          <a:bodyPr wrap="square">
            <a:spAutoFit/>
          </a:bodyPr>
          <a:lstStyle/>
          <a:p>
            <a:pPr>
              <a:spcAft>
                <a:spcPts val="1000"/>
              </a:spcAft>
              <a:defRPr sz="1700" b="1">
                <a:solidFill>
                  <a:srgbClr val="FFFFFF"/>
                </a:solidFill>
                <a:latin typeface="Segoe UI"/>
              </a:defRPr>
            </a:pPr>
            <a:r>
              <a:t>Presentation (~12 min)</a:t>
            </a:r>
          </a:p>
          <a:p>
            <a:pPr>
              <a:spcAft>
                <a:spcPts val="700"/>
              </a:spcAft>
            </a:pPr>
            <a:r>
              <a:rPr b="1" sz="1300">
                <a:solidFill>
                  <a:srgbClr val="38BDF8"/>
                </a:solidFill>
                <a:latin typeface="Segoe UI"/>
              </a:rPr>
              <a:t>• </a:t>
            </a:r>
            <a:r>
              <a:rPr b="0" sz="1200">
                <a:solidFill>
                  <a:srgbClr val="D1D5DB"/>
                </a:solidFill>
                <a:latin typeface="Segoe UI"/>
              </a:rPr>
              <a:t>Live-demo direkt från Expo Go</a:t>
            </a:r>
          </a:p>
          <a:p>
            <a:pPr>
              <a:spcAft>
                <a:spcPts val="700"/>
              </a:spcAft>
            </a:pPr>
            <a:r>
              <a:rPr b="1" sz="1300">
                <a:solidFill>
                  <a:srgbClr val="38BDF8"/>
                </a:solidFill>
                <a:latin typeface="Segoe UI"/>
              </a:rPr>
              <a:t>• </a:t>
            </a:r>
            <a:r>
              <a:rPr b="0" sz="1200">
                <a:solidFill>
                  <a:srgbClr val="D1D5DB"/>
                </a:solidFill>
                <a:latin typeface="Segoe UI"/>
              </a:rPr>
              <a:t>Djupdykning i uppspelningsarkitektur</a:t>
            </a:r>
          </a:p>
          <a:p>
            <a:pPr>
              <a:spcAft>
                <a:spcPts val="700"/>
              </a:spcAft>
            </a:pPr>
            <a:r>
              <a:rPr b="1" sz="1300">
                <a:solidFill>
                  <a:srgbClr val="38BDF8"/>
                </a:solidFill>
                <a:latin typeface="Segoe UI"/>
              </a:rPr>
              <a:t>• </a:t>
            </a:r>
            <a:r>
              <a:rPr b="0" sz="1200">
                <a:solidFill>
                  <a:srgbClr val="D1D5DB"/>
                </a:solidFill>
                <a:latin typeface="Segoe UI"/>
              </a:rPr>
              <a:t>Arbetsprocess &amp; reflektion</a:t>
            </a:r>
          </a:p>
          <a:p>
            <a:pPr>
              <a:spcAft>
                <a:spcPts val="700"/>
              </a:spcAft>
            </a:pPr>
            <a:r>
              <a:rPr b="1" sz="1300">
                <a:solidFill>
                  <a:srgbClr val="38BDF8"/>
                </a:solidFill>
                <a:latin typeface="Segoe UI"/>
              </a:rPr>
              <a:t>• </a:t>
            </a:r>
            <a:r>
              <a:rPr b="0" sz="1200">
                <a:solidFill>
                  <a:srgbClr val="D1D5DB"/>
                </a:solidFill>
                <a:latin typeface="Segoe UI"/>
              </a:rPr>
              <a:t>Uppfyllnad av alla G- &amp; VG-krav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6858000" cy="292608"/>
          </a:xfrm>
          <a:prstGeom prst="rect">
            <a:avLst/>
          </a:prstGeom>
          <a:noFill/>
        </p:spPr>
        <p:txBody>
          <a:bodyPr wrap="square">
            <a:spAutoFit/>
          </a:bodyPr>
          <a:lstStyle/>
          <a:p>
            <a:pPr>
              <a:defRPr sz="1100" b="1">
                <a:solidFill>
                  <a:srgbClr val="FB923C"/>
                </a:solidFill>
                <a:latin typeface="Segoe UI"/>
              </a:defRPr>
            </a:pPr>
            <a:r>
              <a:t>BAKGRUND &amp; IDÉ</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FFFFF"/>
                </a:solidFill>
                <a:latin typeface="Segoe UI"/>
              </a:defRPr>
            </a:pPr>
            <a:r>
              <a:t>Problemet i Sekretariatet &amp; Lösningen</a:t>
            </a:r>
          </a:p>
        </p:txBody>
      </p:sp>
      <p:sp>
        <p:nvSpPr>
          <p:cNvPr id="5" name="TextBox 4"/>
          <p:cNvSpPr txBox="1"/>
          <p:nvPr/>
        </p:nvSpPr>
        <p:spPr>
          <a:xfrm>
            <a:off x="731520" y="1280160"/>
            <a:ext cx="10515600" cy="347472"/>
          </a:xfrm>
          <a:prstGeom prst="rect">
            <a:avLst/>
          </a:prstGeom>
          <a:noFill/>
        </p:spPr>
        <p:txBody>
          <a:bodyPr wrap="square">
            <a:spAutoFit/>
          </a:bodyPr>
          <a:lstStyle/>
          <a:p>
            <a:pPr>
              <a:defRPr sz="1400">
                <a:solidFill>
                  <a:srgbClr val="6B7280"/>
                </a:solidFill>
                <a:latin typeface="Segoe UI"/>
              </a:defRPr>
            </a:pPr>
            <a:r>
              <a:t>Från stress med laptops och Spotify till ett dedikerat mobilverktyg</a:t>
            </a:r>
          </a:p>
        </p:txBody>
      </p:sp>
      <p:sp>
        <p:nvSpPr>
          <p:cNvPr id="6" name="Rounded Rectangle 5"/>
          <p:cNvSpPr/>
          <p:nvPr/>
        </p:nvSpPr>
        <p:spPr>
          <a:xfrm>
            <a:off x="731520" y="1783080"/>
            <a:ext cx="5120640" cy="4480560"/>
          </a:xfrm>
          <a:prstGeom prst="roundRect">
            <a:avLst/>
          </a:prstGeom>
          <a:solidFill>
            <a:srgbClr val="111827"/>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47672"/>
            <a:ext cx="4663440" cy="4151376"/>
          </a:xfrm>
          <a:prstGeom prst="rect">
            <a:avLst/>
          </a:prstGeom>
          <a:noFill/>
        </p:spPr>
        <p:txBody>
          <a:bodyPr wrap="square">
            <a:spAutoFit/>
          </a:bodyPr>
          <a:lstStyle/>
          <a:p>
            <a:pPr>
              <a:spcAft>
                <a:spcPts val="1000"/>
              </a:spcAft>
              <a:defRPr sz="1700" b="1">
                <a:solidFill>
                  <a:srgbClr val="FFFFFF"/>
                </a:solidFill>
                <a:latin typeface="Segoe UI"/>
              </a:defRPr>
            </a:pPr>
            <a:r>
              <a:t>Problemet vid match</a:t>
            </a:r>
          </a:p>
          <a:p>
            <a:pPr>
              <a:spcAft>
                <a:spcPts val="700"/>
              </a:spcAft>
            </a:pPr>
            <a:r>
              <a:rPr b="1" sz="1300">
                <a:solidFill>
                  <a:srgbClr val="38BDF8"/>
                </a:solidFill>
                <a:latin typeface="Segoe UI"/>
              </a:rPr>
              <a:t>Hög arbetsbelastning: </a:t>
            </a:r>
            <a:r>
              <a:rPr b="0" sz="1200">
                <a:solidFill>
                  <a:srgbClr val="D1D5DB"/>
                </a:solidFill>
                <a:latin typeface="Segoe UI"/>
              </a:rPr>
              <a:t>Sekretariatet ska hålla koll på matchklockan, domarens tecken, protokoll och utvisningar samtidigt.</a:t>
            </a:r>
          </a:p>
          <a:p>
            <a:pPr>
              <a:spcAft>
                <a:spcPts val="700"/>
              </a:spcAft>
            </a:pPr>
            <a:r>
              <a:rPr b="1" sz="1300">
                <a:solidFill>
                  <a:srgbClr val="38BDF8"/>
                </a:solidFill>
                <a:latin typeface="Segoe UI"/>
              </a:rPr>
              <a:t>Laptops &amp; Spotify strular: </a:t>
            </a:r>
            <a:r>
              <a:rPr b="0" sz="1200">
                <a:solidFill>
                  <a:srgbClr val="D1D5DB"/>
                </a:solidFill>
                <a:latin typeface="Segoe UI"/>
              </a:rPr>
              <a:t>Att leta låtar och dra i reglage under brinnande match tar tid och leder ofta till fel låt eller missat intro.</a:t>
            </a:r>
          </a:p>
          <a:p>
            <a:pPr>
              <a:spcAft>
                <a:spcPts val="700"/>
              </a:spcAft>
            </a:pPr>
            <a:r>
              <a:rPr b="1" sz="1300">
                <a:solidFill>
                  <a:srgbClr val="38BDF8"/>
                </a:solidFill>
                <a:latin typeface="Segoe UI"/>
              </a:rPr>
              <a:t>Tidsfördröjning: </a:t>
            </a:r>
            <a:r>
              <a:rPr b="0" sz="1200">
                <a:solidFill>
                  <a:srgbClr val="D1D5DB"/>
                </a:solidFill>
                <a:latin typeface="Segoe UI"/>
              </a:rPr>
              <a:t>Låtar har ofta 15–20 sekunders lugnt intro. När refrängen väl kommer har domaren redan blåst igång spelet igen!</a:t>
            </a:r>
          </a:p>
          <a:p>
            <a:pPr>
              <a:spcAft>
                <a:spcPts val="700"/>
              </a:spcAft>
            </a:pPr>
            <a:r>
              <a:rPr b="1" sz="1300">
                <a:solidFill>
                  <a:srgbClr val="38BDF8"/>
                </a:solidFill>
                <a:latin typeface="Segoe UI"/>
              </a:rPr>
              <a:t>Ljudlig miljö: </a:t>
            </a:r>
            <a:r>
              <a:rPr b="0" sz="1200">
                <a:solidFill>
                  <a:srgbClr val="D1D5DB"/>
                </a:solidFill>
                <a:latin typeface="Segoe UI"/>
              </a:rPr>
              <a:t>I sporthallar med publik är det svårt att veta om ett knapptryck faktiskt tog.</a:t>
            </a:r>
          </a:p>
        </p:txBody>
      </p:sp>
      <p:sp>
        <p:nvSpPr>
          <p:cNvPr id="8" name="Rounded Rectangle 7"/>
          <p:cNvSpPr/>
          <p:nvPr/>
        </p:nvSpPr>
        <p:spPr>
          <a:xfrm>
            <a:off x="6217920" y="1783080"/>
            <a:ext cx="5212080" cy="4480560"/>
          </a:xfrm>
          <a:prstGeom prst="roundRect">
            <a:avLst/>
          </a:prstGeom>
          <a:solidFill>
            <a:srgbClr val="111827"/>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47672"/>
            <a:ext cx="4754880" cy="4151376"/>
          </a:xfrm>
          <a:prstGeom prst="rect">
            <a:avLst/>
          </a:prstGeom>
          <a:noFill/>
        </p:spPr>
        <p:txBody>
          <a:bodyPr wrap="square">
            <a:spAutoFit/>
          </a:bodyPr>
          <a:lstStyle/>
          <a:p>
            <a:pPr>
              <a:spcAft>
                <a:spcPts val="1000"/>
              </a:spcAft>
              <a:defRPr sz="1700" b="1">
                <a:solidFill>
                  <a:srgbClr val="FFFFFF"/>
                </a:solidFill>
                <a:latin typeface="Segoe UI"/>
              </a:defRPr>
            </a:pPr>
            <a:r>
              <a:t>Lösningen: DJ-Floorball</a:t>
            </a:r>
          </a:p>
          <a:p>
            <a:pPr>
              <a:spcAft>
                <a:spcPts val="700"/>
              </a:spcAft>
            </a:pPr>
            <a:r>
              <a:rPr b="1" sz="1300">
                <a:solidFill>
                  <a:srgbClr val="38BDF8"/>
                </a:solidFill>
                <a:latin typeface="Segoe UI"/>
              </a:rPr>
              <a:t>Maximerade knappar: </a:t>
            </a:r>
            <a:r>
              <a:rPr b="0" sz="1200">
                <a:solidFill>
                  <a:srgbClr val="D1D5DB"/>
                </a:solidFill>
                <a:latin typeface="Segoe UI"/>
              </a:rPr>
              <a:t>Liggande soundboard med stora, tydliga knappar för Mål, Utvisning och Paus.</a:t>
            </a:r>
          </a:p>
          <a:p>
            <a:pPr>
              <a:spcAft>
                <a:spcPts val="700"/>
              </a:spcAft>
            </a:pPr>
            <a:r>
              <a:rPr b="1" sz="1300">
                <a:solidFill>
                  <a:srgbClr val="38BDF8"/>
                </a:solidFill>
                <a:latin typeface="Segoe UI"/>
              </a:rPr>
              <a:t>Smarta Cue-points: </a:t>
            </a:r>
            <a:r>
              <a:rPr b="0" sz="1200">
                <a:solidFill>
                  <a:srgbClr val="D1D5DB"/>
                </a:solidFill>
                <a:latin typeface="Segoe UI"/>
              </a:rPr>
              <a:t>Varje låt kan sparas med en exakt startsekund så den dundrar igång direkt vid refrängen/droppet!</a:t>
            </a:r>
          </a:p>
          <a:p>
            <a:pPr>
              <a:spcAft>
                <a:spcPts val="700"/>
              </a:spcAft>
            </a:pPr>
            <a:r>
              <a:rPr b="1" sz="1300">
                <a:solidFill>
                  <a:srgbClr val="38BDF8"/>
                </a:solidFill>
                <a:latin typeface="Segoe UI"/>
              </a:rPr>
              <a:t>Haptisk bekräftelse: </a:t>
            </a:r>
            <a:r>
              <a:rPr b="0" sz="1200">
                <a:solidFill>
                  <a:srgbClr val="D1D5DB"/>
                </a:solidFill>
                <a:latin typeface="Segoe UI"/>
              </a:rPr>
              <a:t>Telefonen vibrerar distinkt vid tryck så att man känner att låten startats.</a:t>
            </a:r>
          </a:p>
          <a:p>
            <a:pPr>
              <a:spcAft>
                <a:spcPts val="700"/>
              </a:spcAft>
            </a:pPr>
            <a:r>
              <a:rPr b="1" sz="1300">
                <a:solidFill>
                  <a:srgbClr val="38BDF8"/>
                </a:solidFill>
                <a:latin typeface="Segoe UI"/>
              </a:rPr>
              <a:t>Automatisk skärmrotation: </a:t>
            </a:r>
            <a:r>
              <a:rPr b="0" sz="1200">
                <a:solidFill>
                  <a:srgbClr val="D1D5DB"/>
                </a:solidFill>
                <a:latin typeface="Segoe UI"/>
              </a:rPr>
              <a:t>Roterar automatiskt till liggande på soundboard och stående i spellistan.</a:t>
            </a:r>
          </a:p>
          <a:p>
            <a:pPr>
              <a:spcAft>
                <a:spcPts val="700"/>
              </a:spcAft>
            </a:pPr>
            <a:r>
              <a:rPr b="1" sz="1300">
                <a:solidFill>
                  <a:srgbClr val="38BDF8"/>
                </a:solidFill>
                <a:latin typeface="Segoe UI"/>
              </a:rPr>
              <a:t>Paus-quiz (Web-API): </a:t>
            </a:r>
            <a:r>
              <a:rPr b="0" sz="1200">
                <a:solidFill>
                  <a:srgbClr val="D1D5DB"/>
                </a:solidFill>
                <a:latin typeface="Segoe UI"/>
              </a:rPr>
              <a:t>Underhåller sekretariatet under periodpauserna med livefrågor.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6858000" cy="292608"/>
          </a:xfrm>
          <a:prstGeom prst="rect">
            <a:avLst/>
          </a:prstGeom>
          <a:noFill/>
        </p:spPr>
        <p:txBody>
          <a:bodyPr wrap="square">
            <a:spAutoFit/>
          </a:bodyPr>
          <a:lstStyle/>
          <a:p>
            <a:pPr>
              <a:defRPr sz="1100" b="1">
                <a:solidFill>
                  <a:srgbClr val="34D399"/>
                </a:solidFill>
                <a:latin typeface="Segoe UI"/>
              </a:defRPr>
            </a:pPr>
            <a:r>
              <a:t>APPLIKATIONEN I AKTION</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FFFFF"/>
                </a:solidFill>
                <a:latin typeface="Segoe UI"/>
              </a:defRPr>
            </a:pPr>
            <a:r>
              <a:t>Översikt &amp; Live-Demo</a:t>
            </a:r>
          </a:p>
        </p:txBody>
      </p:sp>
      <p:sp>
        <p:nvSpPr>
          <p:cNvPr id="5" name="TextBox 4"/>
          <p:cNvSpPr txBox="1"/>
          <p:nvPr/>
        </p:nvSpPr>
        <p:spPr>
          <a:xfrm>
            <a:off x="731520" y="1280160"/>
            <a:ext cx="10515600" cy="347472"/>
          </a:xfrm>
          <a:prstGeom prst="rect">
            <a:avLst/>
          </a:prstGeom>
          <a:noFill/>
        </p:spPr>
        <p:txBody>
          <a:bodyPr wrap="square">
            <a:spAutoFit/>
          </a:bodyPr>
          <a:lstStyle/>
          <a:p>
            <a:pPr>
              <a:defRPr sz="1400">
                <a:solidFill>
                  <a:srgbClr val="6B7280"/>
                </a:solidFill>
                <a:latin typeface="Segoe UI"/>
              </a:defRPr>
            </a:pPr>
            <a:r>
              <a:t>Fyra fokuserade funktioner – visas live på mobiltelefonen</a:t>
            </a:r>
          </a:p>
        </p:txBody>
      </p:sp>
      <p:sp>
        <p:nvSpPr>
          <p:cNvPr id="6" name="Rounded Rectangle 5"/>
          <p:cNvSpPr/>
          <p:nvPr/>
        </p:nvSpPr>
        <p:spPr>
          <a:xfrm>
            <a:off x="731520" y="1783080"/>
            <a:ext cx="5120640" cy="2148840"/>
          </a:xfrm>
          <a:prstGeom prst="roundRect">
            <a:avLst/>
          </a:prstGeom>
          <a:solidFill>
            <a:srgbClr val="111827"/>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47672"/>
            <a:ext cx="4663440" cy="1819656"/>
          </a:xfrm>
          <a:prstGeom prst="rect">
            <a:avLst/>
          </a:prstGeom>
          <a:noFill/>
        </p:spPr>
        <p:txBody>
          <a:bodyPr wrap="square">
            <a:spAutoFit/>
          </a:bodyPr>
          <a:lstStyle/>
          <a:p>
            <a:pPr>
              <a:spcAft>
                <a:spcPts val="1000"/>
              </a:spcAft>
              <a:defRPr sz="1700" b="1">
                <a:solidFill>
                  <a:srgbClr val="FFFFFF"/>
                </a:solidFill>
                <a:latin typeface="Segoe UI"/>
              </a:defRPr>
            </a:pPr>
            <a:r>
              <a:t>1. Soundboard (Liggande)</a:t>
            </a:r>
          </a:p>
          <a:p>
            <a:pPr>
              <a:spcAft>
                <a:spcPts val="700"/>
              </a:spcAft>
            </a:pPr>
            <a:r>
              <a:rPr b="1" sz="1300">
                <a:solidFill>
                  <a:srgbClr val="38BDF8"/>
                </a:solidFill>
                <a:latin typeface="Segoe UI"/>
              </a:rPr>
              <a:t>• </a:t>
            </a:r>
            <a:r>
              <a:rPr b="0" sz="1200">
                <a:solidFill>
                  <a:srgbClr val="D1D5DB"/>
                </a:solidFill>
                <a:latin typeface="Segoe UI"/>
              </a:rPr>
              <a:t>Låser skärmen till liggande läge.</a:t>
            </a:r>
          </a:p>
          <a:p>
            <a:pPr>
              <a:spcAft>
                <a:spcPts val="700"/>
              </a:spcAft>
            </a:pPr>
            <a:r>
              <a:rPr b="1" sz="1300">
                <a:solidFill>
                  <a:srgbClr val="38BDF8"/>
                </a:solidFill>
                <a:latin typeface="Segoe UI"/>
              </a:rPr>
              <a:t>• </a:t>
            </a:r>
            <a:r>
              <a:rPr b="0" sz="1200">
                <a:solidFill>
                  <a:srgbClr val="D1D5DB"/>
                </a:solidFill>
                <a:latin typeface="Segoe UI"/>
              </a:rPr>
              <a:t>Stora knappar: Mål, Utvisning, Paus.</a:t>
            </a:r>
          </a:p>
          <a:p>
            <a:pPr>
              <a:spcAft>
                <a:spcPts val="700"/>
              </a:spcAft>
            </a:pPr>
            <a:r>
              <a:rPr b="1" sz="1300">
                <a:solidFill>
                  <a:srgbClr val="38BDF8"/>
                </a:solidFill>
                <a:latin typeface="Segoe UI"/>
              </a:rPr>
              <a:t>• </a:t>
            </a:r>
            <a:r>
              <a:rPr b="0" sz="1200">
                <a:solidFill>
                  <a:srgbClr val="D1D5DB"/>
                </a:solidFill>
                <a:latin typeface="Segoe UI"/>
              </a:rPr>
              <a:t>Reaktiva knappar: Växlar färg och ikon.</a:t>
            </a:r>
          </a:p>
          <a:p>
            <a:pPr>
              <a:spcAft>
                <a:spcPts val="700"/>
              </a:spcAft>
            </a:pPr>
            <a:r>
              <a:rPr b="1" sz="1300">
                <a:solidFill>
                  <a:srgbClr val="38BDF8"/>
                </a:solidFill>
                <a:latin typeface="Segoe UI"/>
              </a:rPr>
              <a:t>• </a:t>
            </a:r>
            <a:r>
              <a:rPr b="0" sz="1200">
                <a:solidFill>
                  <a:srgbClr val="D1D5DB"/>
                </a:solidFill>
                <a:latin typeface="Segoe UI"/>
              </a:rPr>
              <a:t>Haptisk vibration vid varje tryck.</a:t>
            </a:r>
          </a:p>
        </p:txBody>
      </p:sp>
      <p:sp>
        <p:nvSpPr>
          <p:cNvPr id="8" name="Rounded Rectangle 7"/>
          <p:cNvSpPr/>
          <p:nvPr/>
        </p:nvSpPr>
        <p:spPr>
          <a:xfrm>
            <a:off x="6217920" y="1783080"/>
            <a:ext cx="5212080" cy="2148840"/>
          </a:xfrm>
          <a:prstGeom prst="roundRect">
            <a:avLst/>
          </a:prstGeom>
          <a:solidFill>
            <a:srgbClr val="111827"/>
          </a:solidFill>
          <a:ln w="1524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47672"/>
            <a:ext cx="4754880" cy="1819656"/>
          </a:xfrm>
          <a:prstGeom prst="rect">
            <a:avLst/>
          </a:prstGeom>
          <a:noFill/>
        </p:spPr>
        <p:txBody>
          <a:bodyPr wrap="square">
            <a:spAutoFit/>
          </a:bodyPr>
          <a:lstStyle/>
          <a:p>
            <a:pPr>
              <a:spcAft>
                <a:spcPts val="1000"/>
              </a:spcAft>
              <a:defRPr sz="1700" b="1">
                <a:solidFill>
                  <a:srgbClr val="FFFFFF"/>
                </a:solidFill>
                <a:latin typeface="Segoe UI"/>
              </a:defRPr>
            </a:pPr>
            <a:r>
              <a:t>2. Spellista (Stående)</a:t>
            </a:r>
          </a:p>
          <a:p>
            <a:pPr>
              <a:spcAft>
                <a:spcPts val="700"/>
              </a:spcAft>
            </a:pPr>
            <a:r>
              <a:rPr b="1" sz="1300">
                <a:solidFill>
                  <a:srgbClr val="38BDF8"/>
                </a:solidFill>
                <a:latin typeface="Segoe UI"/>
              </a:rPr>
              <a:t>• </a:t>
            </a:r>
            <a:r>
              <a:rPr b="0" sz="1200">
                <a:solidFill>
                  <a:srgbClr val="D1D5DB"/>
                </a:solidFill>
                <a:latin typeface="Segoe UI"/>
              </a:rPr>
              <a:t>Roterar automatiskt till stående läge.</a:t>
            </a:r>
          </a:p>
          <a:p>
            <a:pPr>
              <a:spcAft>
                <a:spcPts val="700"/>
              </a:spcAft>
            </a:pPr>
            <a:r>
              <a:rPr b="1" sz="1300">
                <a:solidFill>
                  <a:srgbClr val="38BDF8"/>
                </a:solidFill>
                <a:latin typeface="Segoe UI"/>
              </a:rPr>
              <a:t>• </a:t>
            </a:r>
            <a:r>
              <a:rPr b="0" sz="1200">
                <a:solidFill>
                  <a:srgbClr val="D1D5DB"/>
                </a:solidFill>
                <a:latin typeface="Segoe UI"/>
              </a:rPr>
              <a:t>Filter: Alla, Paus, Mål, Utvisning.</a:t>
            </a:r>
          </a:p>
          <a:p>
            <a:pPr>
              <a:spcAft>
                <a:spcPts val="700"/>
              </a:spcAft>
            </a:pPr>
            <a:r>
              <a:rPr b="1" sz="1300">
                <a:solidFill>
                  <a:srgbClr val="38BDF8"/>
                </a:solidFill>
                <a:latin typeface="Segoe UI"/>
              </a:rPr>
              <a:t>• </a:t>
            </a:r>
            <a:r>
              <a:rPr b="0" sz="1200">
                <a:solidFill>
                  <a:srgbClr val="D1D5DB"/>
                </a:solidFill>
                <a:latin typeface="Segoe UI"/>
              </a:rPr>
              <a:t>FlatList för hög prestanda.</a:t>
            </a:r>
          </a:p>
          <a:p>
            <a:pPr>
              <a:spcAft>
                <a:spcPts val="700"/>
              </a:spcAft>
            </a:pPr>
            <a:r>
              <a:rPr b="1" sz="1300">
                <a:solidFill>
                  <a:srgbClr val="38BDF8"/>
                </a:solidFill>
                <a:latin typeface="Segoe UI"/>
              </a:rPr>
              <a:t>• </a:t>
            </a:r>
            <a:r>
              <a:rPr b="0" sz="1200">
                <a:solidFill>
                  <a:srgbClr val="D1D5DB"/>
                </a:solidFill>
                <a:latin typeface="Segoe UI"/>
              </a:rPr>
              <a:t>Knapp för att importera egna MP3-filer.</a:t>
            </a:r>
          </a:p>
        </p:txBody>
      </p:sp>
      <p:sp>
        <p:nvSpPr>
          <p:cNvPr id="10" name="Rounded Rectangle 9"/>
          <p:cNvSpPr/>
          <p:nvPr/>
        </p:nvSpPr>
        <p:spPr>
          <a:xfrm>
            <a:off x="731520" y="4114800"/>
            <a:ext cx="5120640" cy="2148840"/>
          </a:xfrm>
          <a:prstGeom prst="roundRect">
            <a:avLst/>
          </a:prstGeom>
          <a:solidFill>
            <a:srgbClr val="111827"/>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279392"/>
            <a:ext cx="4663440" cy="1819656"/>
          </a:xfrm>
          <a:prstGeom prst="rect">
            <a:avLst/>
          </a:prstGeom>
          <a:noFill/>
        </p:spPr>
        <p:txBody>
          <a:bodyPr wrap="square">
            <a:spAutoFit/>
          </a:bodyPr>
          <a:lstStyle/>
          <a:p>
            <a:pPr>
              <a:spcAft>
                <a:spcPts val="1000"/>
              </a:spcAft>
              <a:defRPr sz="1700" b="1">
                <a:solidFill>
                  <a:srgbClr val="FFFFFF"/>
                </a:solidFill>
                <a:latin typeface="Segoe UI"/>
              </a:defRPr>
            </a:pPr>
            <a:r>
              <a:t>3. Cue-points &amp; Detaljer</a:t>
            </a:r>
          </a:p>
          <a:p>
            <a:pPr>
              <a:spcAft>
                <a:spcPts val="700"/>
              </a:spcAft>
            </a:pPr>
            <a:r>
              <a:rPr b="1" sz="1300">
                <a:solidFill>
                  <a:srgbClr val="38BDF8"/>
                </a:solidFill>
                <a:latin typeface="Segoe UI"/>
              </a:rPr>
              <a:t>• </a:t>
            </a:r>
            <a:r>
              <a:rPr b="0" sz="1200">
                <a:solidFill>
                  <a:srgbClr val="D1D5DB"/>
                </a:solidFill>
                <a:latin typeface="Segoe UI"/>
              </a:rPr>
              <a:t>Dynamisk rutt via Expo Router (/song/[id]).</a:t>
            </a:r>
          </a:p>
          <a:p>
            <a:pPr>
              <a:spcAft>
                <a:spcPts val="700"/>
              </a:spcAft>
            </a:pPr>
            <a:r>
              <a:rPr b="1" sz="1300">
                <a:solidFill>
                  <a:srgbClr val="38BDF8"/>
                </a:solidFill>
                <a:latin typeface="Segoe UI"/>
              </a:rPr>
              <a:t>• </a:t>
            </a:r>
            <a:r>
              <a:rPr b="0" sz="1200">
                <a:solidFill>
                  <a:srgbClr val="D1D5DB"/>
                </a:solidFill>
                <a:latin typeface="Segoe UI"/>
              </a:rPr>
              <a:t>Testlyssna och spola +/- 10 sekunder.</a:t>
            </a:r>
          </a:p>
          <a:p>
            <a:pPr>
              <a:spcAft>
                <a:spcPts val="700"/>
              </a:spcAft>
            </a:pPr>
            <a:r>
              <a:rPr b="1" sz="1300">
                <a:solidFill>
                  <a:srgbClr val="38BDF8"/>
                </a:solidFill>
                <a:latin typeface="Segoe UI"/>
              </a:rPr>
              <a:t>• </a:t>
            </a:r>
            <a:r>
              <a:rPr b="0" sz="1200">
                <a:solidFill>
                  <a:srgbClr val="D1D5DB"/>
                </a:solidFill>
                <a:latin typeface="Segoe UI"/>
              </a:rPr>
              <a:t>Slider-reglage för exakt startsekund.</a:t>
            </a:r>
          </a:p>
          <a:p>
            <a:pPr>
              <a:spcAft>
                <a:spcPts val="700"/>
              </a:spcAft>
            </a:pPr>
            <a:r>
              <a:rPr b="1" sz="1300">
                <a:solidFill>
                  <a:srgbClr val="38BDF8"/>
                </a:solidFill>
                <a:latin typeface="Segoe UI"/>
              </a:rPr>
              <a:t>• </a:t>
            </a:r>
            <a:r>
              <a:rPr b="0" sz="1200">
                <a:solidFill>
                  <a:srgbClr val="D1D5DB"/>
                </a:solidFill>
                <a:latin typeface="Segoe UI"/>
              </a:rPr>
              <a:t>Sparar inställningen i AsyncStorage.</a:t>
            </a:r>
          </a:p>
        </p:txBody>
      </p:sp>
      <p:sp>
        <p:nvSpPr>
          <p:cNvPr id="12" name="Rounded Rectangle 11"/>
          <p:cNvSpPr/>
          <p:nvPr/>
        </p:nvSpPr>
        <p:spPr>
          <a:xfrm>
            <a:off x="6217920" y="4114800"/>
            <a:ext cx="5212080" cy="2148840"/>
          </a:xfrm>
          <a:prstGeom prst="roundRect">
            <a:avLst/>
          </a:prstGeom>
          <a:solidFill>
            <a:srgbClr val="111827"/>
          </a:solidFill>
          <a:ln w="1524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279392"/>
            <a:ext cx="4754880" cy="1819656"/>
          </a:xfrm>
          <a:prstGeom prst="rect">
            <a:avLst/>
          </a:prstGeom>
          <a:noFill/>
        </p:spPr>
        <p:txBody>
          <a:bodyPr wrap="square">
            <a:spAutoFit/>
          </a:bodyPr>
          <a:lstStyle/>
          <a:p>
            <a:pPr>
              <a:spcAft>
                <a:spcPts val="1000"/>
              </a:spcAft>
              <a:defRPr sz="1700" b="1">
                <a:solidFill>
                  <a:srgbClr val="FFFFFF"/>
                </a:solidFill>
                <a:latin typeface="Segoe UI"/>
              </a:defRPr>
            </a:pPr>
            <a:r>
              <a:t>4. Pausfrågesport (Web-API)</a:t>
            </a:r>
          </a:p>
          <a:p>
            <a:pPr>
              <a:spcAft>
                <a:spcPts val="700"/>
              </a:spcAft>
            </a:pPr>
            <a:r>
              <a:rPr b="1" sz="1300">
                <a:solidFill>
                  <a:srgbClr val="38BDF8"/>
                </a:solidFill>
                <a:latin typeface="Segoe UI"/>
              </a:rPr>
              <a:t>• </a:t>
            </a:r>
            <a:r>
              <a:rPr b="0" sz="1200">
                <a:solidFill>
                  <a:srgbClr val="D1D5DB"/>
                </a:solidFill>
                <a:latin typeface="Segoe UI"/>
              </a:rPr>
              <a:t>Hämtar sportfrågor via öppet REST-API.</a:t>
            </a:r>
          </a:p>
          <a:p>
            <a:pPr>
              <a:spcAft>
                <a:spcPts val="700"/>
              </a:spcAft>
            </a:pPr>
            <a:r>
              <a:rPr b="1" sz="1300">
                <a:solidFill>
                  <a:srgbClr val="38BDF8"/>
                </a:solidFill>
                <a:latin typeface="Segoe UI"/>
              </a:rPr>
              <a:t>• </a:t>
            </a:r>
            <a:r>
              <a:rPr b="0" sz="1200">
                <a:solidFill>
                  <a:srgbClr val="D1D5DB"/>
                </a:solidFill>
                <a:latin typeface="Segoe UI"/>
              </a:rPr>
              <a:t>Färgmarkering vid rätt/fel svar.</a:t>
            </a:r>
          </a:p>
          <a:p>
            <a:pPr>
              <a:spcAft>
                <a:spcPts val="700"/>
              </a:spcAft>
            </a:pPr>
            <a:r>
              <a:rPr b="1" sz="1300">
                <a:solidFill>
                  <a:srgbClr val="38BDF8"/>
                </a:solidFill>
                <a:latin typeface="Segoe UI"/>
              </a:rPr>
              <a:t>• </a:t>
            </a:r>
            <a:r>
              <a:rPr b="0" sz="1200">
                <a:solidFill>
                  <a:srgbClr val="D1D5DB"/>
                </a:solidFill>
                <a:latin typeface="Segoe UI"/>
              </a:rPr>
              <a:t>ActivityIndicator vid asynkron laddning.</a:t>
            </a:r>
          </a:p>
          <a:p>
            <a:pPr>
              <a:spcAft>
                <a:spcPts val="700"/>
              </a:spcAft>
            </a:pPr>
            <a:r>
              <a:rPr b="1" sz="1300">
                <a:solidFill>
                  <a:srgbClr val="38BDF8"/>
                </a:solidFill>
                <a:latin typeface="Segoe UI"/>
              </a:rPr>
              <a:t>• </a:t>
            </a:r>
            <a:r>
              <a:rPr b="0" sz="1200">
                <a:solidFill>
                  <a:srgbClr val="D1D5DB"/>
                </a:solidFill>
                <a:latin typeface="Segoe UI"/>
              </a:rPr>
              <a:t>Underhållning under periodpauserna.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6858000" cy="292608"/>
          </a:xfrm>
          <a:prstGeom prst="rect">
            <a:avLst/>
          </a:prstGeom>
          <a:noFill/>
        </p:spPr>
        <p:txBody>
          <a:bodyPr wrap="square">
            <a:spAutoFit/>
          </a:bodyPr>
          <a:lstStyle/>
          <a:p>
            <a:pPr>
              <a:defRPr sz="1100" b="1">
                <a:solidFill>
                  <a:srgbClr val="38BDF8"/>
                </a:solidFill>
                <a:latin typeface="Segoe UI"/>
              </a:defRPr>
            </a:pPr>
            <a:r>
              <a:t>NAVIGERING &amp; ROUTING (KRAV)</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FFFFF"/>
                </a:solidFill>
                <a:latin typeface="Segoe UI"/>
              </a:defRPr>
            </a:pPr>
            <a:r>
              <a:t>Expo Router &amp; Dynamisk Parametrering</a:t>
            </a:r>
          </a:p>
        </p:txBody>
      </p:sp>
      <p:sp>
        <p:nvSpPr>
          <p:cNvPr id="5" name="TextBox 4"/>
          <p:cNvSpPr txBox="1"/>
          <p:nvPr/>
        </p:nvSpPr>
        <p:spPr>
          <a:xfrm>
            <a:off x="731520" y="1280160"/>
            <a:ext cx="10515600" cy="347472"/>
          </a:xfrm>
          <a:prstGeom prst="rect">
            <a:avLst/>
          </a:prstGeom>
          <a:noFill/>
        </p:spPr>
        <p:txBody>
          <a:bodyPr wrap="square">
            <a:spAutoFit/>
          </a:bodyPr>
          <a:lstStyle/>
          <a:p>
            <a:pPr>
              <a:defRPr sz="1400">
                <a:solidFill>
                  <a:srgbClr val="6B7280"/>
                </a:solidFill>
                <a:latin typeface="Segoe UI"/>
              </a:defRPr>
            </a:pPr>
            <a:r>
              <a:t>Filbaserad routing med parametrar i src/app/</a:t>
            </a:r>
          </a:p>
        </p:txBody>
      </p:sp>
      <p:sp>
        <p:nvSpPr>
          <p:cNvPr id="6" name="Rounded Rectangle 5"/>
          <p:cNvSpPr/>
          <p:nvPr/>
        </p:nvSpPr>
        <p:spPr>
          <a:xfrm>
            <a:off x="731520" y="1783080"/>
            <a:ext cx="4937760" cy="4480560"/>
          </a:xfrm>
          <a:prstGeom prst="roundRect">
            <a:avLst/>
          </a:prstGeom>
          <a:solidFill>
            <a:srgbClr val="111827"/>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47672"/>
            <a:ext cx="4480560" cy="4151376"/>
          </a:xfrm>
          <a:prstGeom prst="rect">
            <a:avLst/>
          </a:prstGeom>
          <a:noFill/>
        </p:spPr>
        <p:txBody>
          <a:bodyPr wrap="square">
            <a:spAutoFit/>
          </a:bodyPr>
          <a:lstStyle/>
          <a:p>
            <a:pPr>
              <a:spcAft>
                <a:spcPts val="1000"/>
              </a:spcAft>
              <a:defRPr sz="1700" b="1">
                <a:solidFill>
                  <a:srgbClr val="FFFFFF"/>
                </a:solidFill>
                <a:latin typeface="Segoe UI"/>
              </a:defRPr>
            </a:pPr>
            <a:r>
              <a:t>Navigeringsarkitektur</a:t>
            </a:r>
          </a:p>
          <a:p>
            <a:pPr>
              <a:spcAft>
                <a:spcPts val="700"/>
              </a:spcAft>
            </a:pPr>
            <a:r>
              <a:rPr b="1" sz="1300">
                <a:solidFill>
                  <a:srgbClr val="38BDF8"/>
                </a:solidFill>
                <a:latin typeface="Segoe UI"/>
              </a:rPr>
              <a:t>Filbaserad Router: </a:t>
            </a:r>
            <a:r>
              <a:rPr b="0" sz="1200">
                <a:solidFill>
                  <a:srgbClr val="D1D5DB"/>
                </a:solidFill>
                <a:latin typeface="Segoe UI"/>
              </a:rPr>
              <a:t>Använder moderna Expo Router enligt kurskravet (ligger helt i src/app/).</a:t>
            </a:r>
          </a:p>
          <a:p>
            <a:pPr>
              <a:spcAft>
                <a:spcPts val="700"/>
              </a:spcAft>
            </a:pPr>
            <a:r>
              <a:rPr b="1" sz="1300">
                <a:solidFill>
                  <a:srgbClr val="38BDF8"/>
                </a:solidFill>
                <a:latin typeface="Segoe UI"/>
              </a:rPr>
              <a:t>Fliklayout (_layout.tsx): </a:t>
            </a:r>
            <a:r>
              <a:rPr b="0" sz="1200">
                <a:solidFill>
                  <a:srgbClr val="D1D5DB"/>
                </a:solidFill>
                <a:latin typeface="Segoe UI"/>
              </a:rPr>
              <a:t>En Tabs-navigator styr huvudflödet. Fliken song/[id] döljs från menyraden med href: null.</a:t>
            </a:r>
          </a:p>
          <a:p>
            <a:pPr>
              <a:spcAft>
                <a:spcPts val="700"/>
              </a:spcAft>
            </a:pPr>
            <a:r>
              <a:rPr b="1" sz="1300">
                <a:solidFill>
                  <a:srgbClr val="38BDF8"/>
                </a:solidFill>
                <a:latin typeface="Segoe UI"/>
              </a:rPr>
              <a:t>Dynamisk Parameter: </a:t>
            </a:r>
            <a:r>
              <a:rPr b="0" sz="1200">
                <a:solidFill>
                  <a:srgbClr val="D1D5DB"/>
                </a:solidFill>
                <a:latin typeface="Segoe UI"/>
              </a:rPr>
              <a:t>När en låt väljs navigeras användaren till /song/${id}.</a:t>
            </a:r>
          </a:p>
          <a:p>
            <a:pPr>
              <a:spcAft>
                <a:spcPts val="700"/>
              </a:spcAft>
            </a:pPr>
            <a:r>
              <a:rPr b="1" sz="1300">
                <a:solidFill>
                  <a:srgbClr val="38BDF8"/>
                </a:solidFill>
                <a:latin typeface="Segoe UI"/>
              </a:rPr>
              <a:t>useLocalSearchParams(): </a:t>
            </a:r>
            <a:r>
              <a:rPr b="0" sz="1200">
                <a:solidFill>
                  <a:srgbClr val="D1D5DB"/>
                </a:solidFill>
                <a:latin typeface="Segoe UI"/>
              </a:rPr>
              <a:t>Fångar upp id:t i detaljvyn för att matcha rätt låt och ladda dess starttider.</a:t>
            </a:r>
          </a:p>
          <a:p>
            <a:pPr>
              <a:spcAft>
                <a:spcPts val="700"/>
              </a:spcAft>
            </a:pPr>
            <a:r>
              <a:rPr b="1" sz="1300">
                <a:solidFill>
                  <a:srgbClr val="38BDF8"/>
                </a:solidFill>
                <a:latin typeface="Segoe UI"/>
              </a:rPr>
              <a:t>Eget krav: </a:t>
            </a:r>
            <a:r>
              <a:rPr b="0" sz="1200">
                <a:solidFill>
                  <a:srgbClr val="D1D5DB"/>
                </a:solidFill>
                <a:latin typeface="Segoe UI"/>
              </a:rPr>
              <a:t>Expo Router räknas separat och inte som en av mina 4 Expo-moduler.</a:t>
            </a:r>
          </a:p>
        </p:txBody>
      </p:sp>
      <p:pic>
        <p:nvPicPr>
          <p:cNvPr id="8" name="Picture 7" descr="code_router.png"/>
          <p:cNvPicPr>
            <a:picLocks noChangeAspect="1"/>
          </p:cNvPicPr>
          <p:nvPr/>
        </p:nvPicPr>
        <p:blipFill>
          <a:blip r:embed="rId2"/>
          <a:stretch>
            <a:fillRect/>
          </a:stretch>
        </p:blipFill>
        <p:spPr>
          <a:xfrm>
            <a:off x="5943600" y="1783080"/>
            <a:ext cx="5486400" cy="169758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6858000" cy="292608"/>
          </a:xfrm>
          <a:prstGeom prst="rect">
            <a:avLst/>
          </a:prstGeom>
          <a:noFill/>
        </p:spPr>
        <p:txBody>
          <a:bodyPr wrap="square">
            <a:spAutoFit/>
          </a:bodyPr>
          <a:lstStyle/>
          <a:p>
            <a:pPr>
              <a:defRPr sz="1100" b="1">
                <a:solidFill>
                  <a:srgbClr val="34D399"/>
                </a:solidFill>
                <a:latin typeface="Segoe UI"/>
              </a:defRPr>
            </a:pPr>
            <a:r>
              <a:t>EXPO SDK • HUVUDMODUL 1 &amp; SPELARARKITEKTUR</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FFFFF"/>
                </a:solidFill>
                <a:latin typeface="Segoe UI"/>
              </a:defRPr>
            </a:pPr>
            <a:r>
              <a:t>expo-audio &amp; Reaktiv Spelarlogik</a:t>
            </a:r>
          </a:p>
        </p:txBody>
      </p:sp>
      <p:sp>
        <p:nvSpPr>
          <p:cNvPr id="5" name="TextBox 4"/>
          <p:cNvSpPr txBox="1"/>
          <p:nvPr/>
        </p:nvSpPr>
        <p:spPr>
          <a:xfrm>
            <a:off x="731520" y="1280160"/>
            <a:ext cx="10515600" cy="347472"/>
          </a:xfrm>
          <a:prstGeom prst="rect">
            <a:avLst/>
          </a:prstGeom>
          <a:noFill/>
        </p:spPr>
        <p:txBody>
          <a:bodyPr wrap="square">
            <a:spAutoFit/>
          </a:bodyPr>
          <a:lstStyle/>
          <a:p>
            <a:pPr>
              <a:defRPr sz="1400">
                <a:solidFill>
                  <a:srgbClr val="6B7280"/>
                </a:solidFill>
                <a:latin typeface="Segoe UI"/>
              </a:defRPr>
            </a:pPr>
            <a:r>
              <a:t>Singulär spelarinstans, dynamisk play/stop (färg &amp; ikon) och cue-points</a:t>
            </a:r>
          </a:p>
        </p:txBody>
      </p:sp>
      <p:sp>
        <p:nvSpPr>
          <p:cNvPr id="6" name="Rounded Rectangle 5"/>
          <p:cNvSpPr/>
          <p:nvPr/>
        </p:nvSpPr>
        <p:spPr>
          <a:xfrm>
            <a:off x="731520" y="1783080"/>
            <a:ext cx="4937760" cy="4480560"/>
          </a:xfrm>
          <a:prstGeom prst="roundRect">
            <a:avLst/>
          </a:prstGeom>
          <a:solidFill>
            <a:srgbClr val="111827"/>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47672"/>
            <a:ext cx="4480560" cy="4151376"/>
          </a:xfrm>
          <a:prstGeom prst="rect">
            <a:avLst/>
          </a:prstGeom>
          <a:noFill/>
        </p:spPr>
        <p:txBody>
          <a:bodyPr wrap="square">
            <a:spAutoFit/>
          </a:bodyPr>
          <a:lstStyle/>
          <a:p>
            <a:pPr>
              <a:spcAft>
                <a:spcPts val="1000"/>
              </a:spcAft>
              <a:defRPr sz="1700" b="1">
                <a:solidFill>
                  <a:srgbClr val="FFFFFF"/>
                </a:solidFill>
                <a:latin typeface="Segoe UI"/>
              </a:defRPr>
            </a:pPr>
            <a:r>
              <a:t>Arkitektur &amp; Kärnlogik</a:t>
            </a:r>
          </a:p>
          <a:p>
            <a:pPr>
              <a:spcAft>
                <a:spcPts val="700"/>
              </a:spcAft>
            </a:pPr>
            <a:r>
              <a:rPr b="1" sz="1300">
                <a:solidFill>
                  <a:srgbClr val="38BDF8"/>
                </a:solidFill>
                <a:latin typeface="Segoe UI"/>
              </a:rPr>
              <a:t>Singulär spelare (Inga ljudkrockar): </a:t>
            </a:r>
            <a:r>
              <a:rPr b="0" sz="1200">
                <a:solidFill>
                  <a:srgbClr val="D1D5DB"/>
                </a:solidFill>
                <a:latin typeface="Segoe UI"/>
              </a:rPr>
              <a:t>Skapar en enda delad useAudioPlayer. När en ny knapp trycks körs player.replace(), vilket automatiskt avbryter förra låten. Två låtar kan aldrig spelas samtidigt!</a:t>
            </a:r>
          </a:p>
          <a:p>
            <a:pPr>
              <a:spcAft>
                <a:spcPts val="700"/>
              </a:spcAft>
            </a:pPr>
            <a:r>
              <a:rPr b="1" sz="1300">
                <a:solidFill>
                  <a:srgbClr val="38BDF8"/>
                </a:solidFill>
                <a:latin typeface="Segoe UI"/>
              </a:rPr>
              <a:t>Reaktiv statuskontroll: </a:t>
            </a:r>
            <a:r>
              <a:rPr b="0" sz="1200">
                <a:solidFill>
                  <a:srgbClr val="D1D5DB"/>
                </a:solidFill>
                <a:latin typeface="Segoe UI"/>
              </a:rPr>
              <a:t>useAudioPlayerStatus ger status.playing i realtid. Tillsammans med state activeButton vet appen exakt vilken knapp som låter.</a:t>
            </a:r>
          </a:p>
          <a:p>
            <a:pPr>
              <a:spcAft>
                <a:spcPts val="700"/>
              </a:spcAft>
            </a:pPr>
            <a:r>
              <a:rPr b="1" sz="1300">
                <a:solidFill>
                  <a:srgbClr val="38BDF8"/>
                </a:solidFill>
                <a:latin typeface="Segoe UI"/>
              </a:rPr>
              <a:t>Ternary-styrd UI (Färg &amp; Ikon): </a:t>
            </a:r>
            <a:r>
              <a:rPr b="0" sz="1200">
                <a:solidFill>
                  <a:srgbClr val="D1D5DB"/>
                </a:solidFill>
                <a:latin typeface="Segoe UI"/>
              </a:rPr>
              <a:t>Knappen ändrar färg till rött (#ef4444) vid uppspelning och ikonen växlar mellan 'play' och 'stop' via villkorsuttryck.</a:t>
            </a:r>
          </a:p>
          <a:p>
            <a:pPr>
              <a:spcAft>
                <a:spcPts val="700"/>
              </a:spcAft>
            </a:pPr>
            <a:r>
              <a:rPr b="1" sz="1300">
                <a:solidFill>
                  <a:srgbClr val="38BDF8"/>
                </a:solidFill>
                <a:latin typeface="Segoe UI"/>
              </a:rPr>
              <a:t>Smart Cue-point seeking: </a:t>
            </a:r>
            <a:r>
              <a:rPr b="0" sz="1200">
                <a:solidFill>
                  <a:srgbClr val="D1D5DB"/>
                </a:solidFill>
                <a:latin typeface="Segoe UI"/>
              </a:rPr>
              <a:t>player.seekTo(startTime) spolar direkt till droppet/refrängen – sparad i minnet via AsyncStorage.</a:t>
            </a:r>
          </a:p>
          <a:p>
            <a:pPr>
              <a:spcAft>
                <a:spcPts val="700"/>
              </a:spcAft>
            </a:pPr>
            <a:r>
              <a:rPr b="1" sz="1300">
                <a:solidFill>
                  <a:srgbClr val="38BDF8"/>
                </a:solidFill>
                <a:latin typeface="Segoe UI"/>
              </a:rPr>
              <a:t>Viktiga metoder i expo-audio: </a:t>
            </a:r>
            <a:r>
              <a:rPr b="0" sz="1200">
                <a:solidFill>
                  <a:srgbClr val="D1D5DB"/>
                </a:solidFill>
                <a:latin typeface="Segoe UI"/>
              </a:rPr>
              <a:t>play(), pause(), replace(), seekTo(sec), setVolume(val).</a:t>
            </a:r>
          </a:p>
        </p:txBody>
      </p:sp>
      <p:pic>
        <p:nvPicPr>
          <p:cNvPr id="8" name="Picture 7" descr="code_audio_adv.png"/>
          <p:cNvPicPr>
            <a:picLocks noChangeAspect="1"/>
          </p:cNvPicPr>
          <p:nvPr/>
        </p:nvPicPr>
        <p:blipFill>
          <a:blip r:embed="rId2"/>
          <a:stretch>
            <a:fillRect/>
          </a:stretch>
        </p:blipFill>
        <p:spPr>
          <a:xfrm>
            <a:off x="5943600" y="1783080"/>
            <a:ext cx="5486400" cy="303792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6858000" cy="292608"/>
          </a:xfrm>
          <a:prstGeom prst="rect">
            <a:avLst/>
          </a:prstGeom>
          <a:noFill/>
        </p:spPr>
        <p:txBody>
          <a:bodyPr wrap="square">
            <a:spAutoFit/>
          </a:bodyPr>
          <a:lstStyle/>
          <a:p>
            <a:pPr>
              <a:defRPr sz="1100" b="1">
                <a:solidFill>
                  <a:srgbClr val="38BDF8"/>
                </a:solidFill>
                <a:latin typeface="Segoe UI"/>
              </a:defRPr>
            </a:pPr>
            <a:r>
              <a:t>EXPO SDK • HUVUDMODUL 2 (DJUPDYKNING)</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FFFFF"/>
                </a:solidFill>
                <a:latin typeface="Segoe UI"/>
              </a:defRPr>
            </a:pPr>
            <a:r>
              <a:t>expo-screen-orientation: Hårdvarurotation</a:t>
            </a:r>
          </a:p>
        </p:txBody>
      </p:sp>
      <p:sp>
        <p:nvSpPr>
          <p:cNvPr id="5" name="TextBox 4"/>
          <p:cNvSpPr txBox="1"/>
          <p:nvPr/>
        </p:nvSpPr>
        <p:spPr>
          <a:xfrm>
            <a:off x="731520" y="1280160"/>
            <a:ext cx="10515600" cy="347472"/>
          </a:xfrm>
          <a:prstGeom prst="rect">
            <a:avLst/>
          </a:prstGeom>
          <a:noFill/>
        </p:spPr>
        <p:txBody>
          <a:bodyPr wrap="square">
            <a:spAutoFit/>
          </a:bodyPr>
          <a:lstStyle/>
          <a:p>
            <a:pPr>
              <a:defRPr sz="1400">
                <a:solidFill>
                  <a:srgbClr val="6B7280"/>
                </a:solidFill>
                <a:latin typeface="Segoe UI"/>
              </a:defRPr>
            </a:pPr>
            <a:r>
              <a:t>Styr telefonens visningsläge automatiskt beroende på skärm och syfte</a:t>
            </a:r>
          </a:p>
        </p:txBody>
      </p:sp>
      <p:sp>
        <p:nvSpPr>
          <p:cNvPr id="6" name="Rounded Rectangle 5"/>
          <p:cNvSpPr/>
          <p:nvPr/>
        </p:nvSpPr>
        <p:spPr>
          <a:xfrm>
            <a:off x="731520" y="1783080"/>
            <a:ext cx="4937760" cy="4480560"/>
          </a:xfrm>
          <a:prstGeom prst="roundRect">
            <a:avLst/>
          </a:prstGeom>
          <a:solidFill>
            <a:srgbClr val="111827"/>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47672"/>
            <a:ext cx="4480560" cy="4151376"/>
          </a:xfrm>
          <a:prstGeom prst="rect">
            <a:avLst/>
          </a:prstGeom>
          <a:noFill/>
        </p:spPr>
        <p:txBody>
          <a:bodyPr wrap="square">
            <a:spAutoFit/>
          </a:bodyPr>
          <a:lstStyle/>
          <a:p>
            <a:pPr>
              <a:spcAft>
                <a:spcPts val="1000"/>
              </a:spcAft>
              <a:defRPr sz="1700" b="1">
                <a:solidFill>
                  <a:srgbClr val="FFFFFF"/>
                </a:solidFill>
                <a:latin typeface="Segoe UI"/>
              </a:defRPr>
            </a:pPr>
            <a:r>
              <a:t>Kärnfunktioner &amp; Metoder</a:t>
            </a:r>
          </a:p>
          <a:p>
            <a:pPr>
              <a:spcAft>
                <a:spcPts val="700"/>
              </a:spcAft>
            </a:pPr>
            <a:r>
              <a:rPr b="1" sz="1300">
                <a:solidFill>
                  <a:srgbClr val="38BDF8"/>
                </a:solidFill>
                <a:latin typeface="Segoe UI"/>
              </a:rPr>
              <a:t>ScreenOrientation.lockAsync(): </a:t>
            </a:r>
            <a:r>
              <a:rPr b="0" sz="1200">
                <a:solidFill>
                  <a:srgbClr val="D1D5DB"/>
                </a:solidFill>
                <a:latin typeface="Segoe UI"/>
              </a:rPr>
              <a:t>Talar med operativsystemets hårdvarulager och låser skärmens visningsläge.</a:t>
            </a:r>
          </a:p>
          <a:p>
            <a:pPr>
              <a:spcAft>
                <a:spcPts val="700"/>
              </a:spcAft>
            </a:pPr>
            <a:r>
              <a:rPr b="1" sz="1300">
                <a:solidFill>
                  <a:srgbClr val="38BDF8"/>
                </a:solidFill>
                <a:latin typeface="Segoe UI"/>
              </a:rPr>
              <a:t>OrientationLock.LANDSCAPE: </a:t>
            </a:r>
            <a:r>
              <a:rPr b="0" sz="1200">
                <a:solidFill>
                  <a:srgbClr val="D1D5DB"/>
                </a:solidFill>
                <a:latin typeface="Segoe UI"/>
              </a:rPr>
              <a:t>Låser till liggande läge – maximerar knapparnas yta på Soundboarden.</a:t>
            </a:r>
          </a:p>
          <a:p>
            <a:pPr>
              <a:spcAft>
                <a:spcPts val="700"/>
              </a:spcAft>
            </a:pPr>
            <a:r>
              <a:rPr b="1" sz="1300">
                <a:solidFill>
                  <a:srgbClr val="38BDF8"/>
                </a:solidFill>
                <a:latin typeface="Segoe UI"/>
              </a:rPr>
              <a:t>OrientationLock.PORTRAIT_UP: </a:t>
            </a:r>
            <a:r>
              <a:rPr b="0" sz="1200">
                <a:solidFill>
                  <a:srgbClr val="D1D5DB"/>
                </a:solidFill>
                <a:latin typeface="Segoe UI"/>
              </a:rPr>
              <a:t>Låser till normalt stående läge – ger bekväm enhandsscroll i spellistan.</a:t>
            </a:r>
          </a:p>
          <a:p>
            <a:pPr>
              <a:spcAft>
                <a:spcPts val="700"/>
              </a:spcAft>
            </a:pPr>
            <a:r>
              <a:rPr b="1" sz="1300">
                <a:solidFill>
                  <a:srgbClr val="38BDF8"/>
                </a:solidFill>
                <a:latin typeface="Segoe UI"/>
              </a:rPr>
              <a:t>ScreenOrientation.unlockAsync(): </a:t>
            </a:r>
            <a:r>
              <a:rPr b="0" sz="1200">
                <a:solidFill>
                  <a:srgbClr val="D1D5DB"/>
                </a:solidFill>
                <a:latin typeface="Segoe UI"/>
              </a:rPr>
              <a:t>Släpper orienteringslåset och tillåter fri sensorrotation.</a:t>
            </a:r>
          </a:p>
          <a:p>
            <a:pPr>
              <a:spcAft>
                <a:spcPts val="700"/>
              </a:spcAft>
            </a:pPr>
            <a:r>
              <a:rPr b="1" sz="1300">
                <a:solidFill>
                  <a:srgbClr val="38BDF8"/>
                </a:solidFill>
                <a:latin typeface="Segoe UI"/>
              </a:rPr>
              <a:t>getOrientationAsync(): </a:t>
            </a:r>
            <a:r>
              <a:rPr b="0" sz="1200">
                <a:solidFill>
                  <a:srgbClr val="D1D5DB"/>
                </a:solidFill>
                <a:latin typeface="Segoe UI"/>
              </a:rPr>
              <a:t>Läser av aktuell fysisk vinkel på enheten.</a:t>
            </a:r>
          </a:p>
          <a:p>
            <a:pPr>
              <a:spcAft>
                <a:spcPts val="700"/>
              </a:spcAft>
            </a:pPr>
            <a:r>
              <a:rPr b="1" sz="1300">
                <a:solidFill>
                  <a:srgbClr val="38BDF8"/>
                </a:solidFill>
                <a:latin typeface="Segoe UI"/>
              </a:rPr>
              <a:t>addOrientationChangeListener(): </a:t>
            </a:r>
            <a:r>
              <a:rPr b="0" sz="1200">
                <a:solidFill>
                  <a:srgbClr val="D1D5DB"/>
                </a:solidFill>
                <a:latin typeface="Segoe UI"/>
              </a:rPr>
              <a:t>Event-lyssnare som triggas när enhetens vinkel förändras.</a:t>
            </a:r>
          </a:p>
        </p:txBody>
      </p:sp>
      <p:pic>
        <p:nvPicPr>
          <p:cNvPr id="8" name="Picture 7" descr="code_orient.png"/>
          <p:cNvPicPr>
            <a:picLocks noChangeAspect="1"/>
          </p:cNvPicPr>
          <p:nvPr/>
        </p:nvPicPr>
        <p:blipFill>
          <a:blip r:embed="rId2"/>
          <a:stretch>
            <a:fillRect/>
          </a:stretch>
        </p:blipFill>
        <p:spPr>
          <a:xfrm>
            <a:off x="5943600" y="1783080"/>
            <a:ext cx="5486400" cy="261293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6858000" cy="292608"/>
          </a:xfrm>
          <a:prstGeom prst="rect">
            <a:avLst/>
          </a:prstGeom>
          <a:noFill/>
        </p:spPr>
        <p:txBody>
          <a:bodyPr wrap="square">
            <a:spAutoFit/>
          </a:bodyPr>
          <a:lstStyle/>
          <a:p>
            <a:pPr>
              <a:defRPr sz="1100" b="1">
                <a:solidFill>
                  <a:srgbClr val="FB923C"/>
                </a:solidFill>
                <a:latin typeface="Segoe UI"/>
              </a:defRPr>
            </a:pPr>
            <a:r>
              <a:t>EXPO SDK • MODUL 3 &amp; 4 (ÖVERSIKT)</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FFFFF"/>
                </a:solidFill>
                <a:latin typeface="Segoe UI"/>
              </a:defRPr>
            </a:pPr>
            <a:r>
              <a:t>expo-haptics &amp; expo-document-picker</a:t>
            </a:r>
          </a:p>
        </p:txBody>
      </p:sp>
      <p:sp>
        <p:nvSpPr>
          <p:cNvPr id="5" name="TextBox 4"/>
          <p:cNvSpPr txBox="1"/>
          <p:nvPr/>
        </p:nvSpPr>
        <p:spPr>
          <a:xfrm>
            <a:off x="731520" y="1280160"/>
            <a:ext cx="10515600" cy="347472"/>
          </a:xfrm>
          <a:prstGeom prst="rect">
            <a:avLst/>
          </a:prstGeom>
          <a:noFill/>
        </p:spPr>
        <p:txBody>
          <a:bodyPr wrap="square">
            <a:spAutoFit/>
          </a:bodyPr>
          <a:lstStyle/>
          <a:p>
            <a:pPr>
              <a:defRPr sz="1400">
                <a:solidFill>
                  <a:srgbClr val="6B7280"/>
                </a:solidFill>
                <a:latin typeface="Segoe UI"/>
              </a:defRPr>
            </a:pPr>
            <a:r>
              <a:t>Kompletterande hårdvarumoduler – uppfyller kravet på minst 4 Expo-moduler</a:t>
            </a:r>
          </a:p>
        </p:txBody>
      </p:sp>
      <p:sp>
        <p:nvSpPr>
          <p:cNvPr id="6" name="Rounded Rectangle 5"/>
          <p:cNvSpPr/>
          <p:nvPr/>
        </p:nvSpPr>
        <p:spPr>
          <a:xfrm>
            <a:off x="731520" y="1783080"/>
            <a:ext cx="5120640" cy="4480560"/>
          </a:xfrm>
          <a:prstGeom prst="roundRect">
            <a:avLst/>
          </a:prstGeom>
          <a:solidFill>
            <a:srgbClr val="111827"/>
          </a:solidFill>
          <a:ln w="1524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47672"/>
            <a:ext cx="4663440" cy="4151376"/>
          </a:xfrm>
          <a:prstGeom prst="rect">
            <a:avLst/>
          </a:prstGeom>
          <a:noFill/>
        </p:spPr>
        <p:txBody>
          <a:bodyPr wrap="square">
            <a:spAutoFit/>
          </a:bodyPr>
          <a:lstStyle/>
          <a:p>
            <a:pPr>
              <a:spcAft>
                <a:spcPts val="1000"/>
              </a:spcAft>
              <a:defRPr sz="1700" b="1">
                <a:solidFill>
                  <a:srgbClr val="FFFFFF"/>
                </a:solidFill>
                <a:latin typeface="Segoe UI"/>
              </a:defRPr>
            </a:pPr>
            <a:r>
              <a:t>Modul 3: expo-haptics</a:t>
            </a:r>
          </a:p>
          <a:p>
            <a:pPr>
              <a:spcAft>
                <a:spcPts val="700"/>
              </a:spcAft>
            </a:pPr>
            <a:r>
              <a:rPr b="1" sz="1300">
                <a:solidFill>
                  <a:srgbClr val="38BDF8"/>
                </a:solidFill>
                <a:latin typeface="Segoe UI"/>
              </a:rPr>
              <a:t>Taktil feedback: </a:t>
            </a:r>
            <a:r>
              <a:rPr b="0" sz="1200">
                <a:solidFill>
                  <a:srgbClr val="D1D5DB"/>
                </a:solidFill>
                <a:latin typeface="Segoe UI"/>
              </a:rPr>
              <a:t>Styr telefonens interna vibrationsmotor (Taptic Engine / Haptic Motor).</a:t>
            </a:r>
          </a:p>
          <a:p>
            <a:pPr>
              <a:spcAft>
                <a:spcPts val="700"/>
              </a:spcAft>
            </a:pPr>
            <a:r>
              <a:rPr b="1" sz="1300">
                <a:solidFill>
                  <a:srgbClr val="38BDF8"/>
                </a:solidFill>
                <a:latin typeface="Segoe UI"/>
              </a:rPr>
              <a:t>Kärnmetod: </a:t>
            </a:r>
            <a:r>
              <a:rPr b="0" sz="1200">
                <a:solidFill>
                  <a:srgbClr val="D1D5DB"/>
                </a:solidFill>
                <a:latin typeface="Segoe UI"/>
              </a:rPr>
              <a:t>Haptics.impactAsync(Haptics.ImpactFeedbackStyle.Medium)</a:t>
            </a:r>
          </a:p>
          <a:p>
            <a:pPr>
              <a:spcAft>
                <a:spcPts val="700"/>
              </a:spcAft>
            </a:pPr>
            <a:r>
              <a:rPr b="1" sz="1300">
                <a:solidFill>
                  <a:srgbClr val="38BDF8"/>
                </a:solidFill>
                <a:latin typeface="Segoe UI"/>
              </a:rPr>
              <a:t>Varför i appen? </a:t>
            </a:r>
            <a:r>
              <a:rPr b="0" sz="1200">
                <a:solidFill>
                  <a:srgbClr val="D1D5DB"/>
                </a:solidFill>
                <a:latin typeface="Segoe UI"/>
              </a:rPr>
              <a:t>I en sporthall är det fullt av ljud från publik, domare och musik. Den fysiska vibrationen ger funktionären en omedelbar bekräftelse på att mållåten faktiskt startats utan att behöva titta ned på skärmen.</a:t>
            </a:r>
          </a:p>
          <a:p>
            <a:pPr>
              <a:spcAft>
                <a:spcPts val="700"/>
              </a:spcAft>
            </a:pPr>
            <a:r>
              <a:rPr b="1" sz="1300">
                <a:solidFill>
                  <a:srgbClr val="38BDF8"/>
                </a:solidFill>
                <a:latin typeface="Segoe UI"/>
              </a:rPr>
              <a:t>Andra metoder i modulen: </a:t>
            </a:r>
            <a:r>
              <a:rPr b="0" sz="1200">
                <a:solidFill>
                  <a:srgbClr val="D1D5DB"/>
                </a:solidFill>
                <a:latin typeface="Segoe UI"/>
              </a:rPr>
              <a:t>notificationAsync() för larm/fel, och selectionAsync() för lätta klick.</a:t>
            </a:r>
          </a:p>
        </p:txBody>
      </p:sp>
      <p:sp>
        <p:nvSpPr>
          <p:cNvPr id="8" name="Rounded Rectangle 7"/>
          <p:cNvSpPr/>
          <p:nvPr/>
        </p:nvSpPr>
        <p:spPr>
          <a:xfrm>
            <a:off x="6217920" y="1783080"/>
            <a:ext cx="5212080" cy="4480560"/>
          </a:xfrm>
          <a:prstGeom prst="roundRect">
            <a:avLst/>
          </a:prstGeom>
          <a:solidFill>
            <a:srgbClr val="111827"/>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47672"/>
            <a:ext cx="4754880" cy="4151376"/>
          </a:xfrm>
          <a:prstGeom prst="rect">
            <a:avLst/>
          </a:prstGeom>
          <a:noFill/>
        </p:spPr>
        <p:txBody>
          <a:bodyPr wrap="square">
            <a:spAutoFit/>
          </a:bodyPr>
          <a:lstStyle/>
          <a:p>
            <a:pPr>
              <a:spcAft>
                <a:spcPts val="1000"/>
              </a:spcAft>
              <a:defRPr sz="1700" b="1">
                <a:solidFill>
                  <a:srgbClr val="FFFFFF"/>
                </a:solidFill>
                <a:latin typeface="Segoe UI"/>
              </a:defRPr>
            </a:pPr>
            <a:r>
              <a:t>Modul 4: expo-document-picker</a:t>
            </a:r>
          </a:p>
          <a:p>
            <a:pPr>
              <a:spcAft>
                <a:spcPts val="700"/>
              </a:spcAft>
            </a:pPr>
            <a:r>
              <a:rPr b="1" sz="1300">
                <a:solidFill>
                  <a:srgbClr val="38BDF8"/>
                </a:solidFill>
                <a:latin typeface="Segoe UI"/>
              </a:rPr>
              <a:t>Systemets filväljare: </a:t>
            </a:r>
            <a:r>
              <a:rPr b="0" sz="1200">
                <a:solidFill>
                  <a:srgbClr val="D1D5DB"/>
                </a:solidFill>
                <a:latin typeface="Segoe UI"/>
              </a:rPr>
              <a:t>Öppnar mobilens interna filhanterare (Filer / Android Storage).</a:t>
            </a:r>
          </a:p>
          <a:p>
            <a:pPr>
              <a:spcAft>
                <a:spcPts val="700"/>
              </a:spcAft>
            </a:pPr>
            <a:r>
              <a:rPr b="1" sz="1300">
                <a:solidFill>
                  <a:srgbClr val="38BDF8"/>
                </a:solidFill>
                <a:latin typeface="Segoe UI"/>
              </a:rPr>
              <a:t>Kärnmetod: </a:t>
            </a:r>
            <a:r>
              <a:rPr b="0" sz="1200">
                <a:solidFill>
                  <a:srgbClr val="D1D5DB"/>
                </a:solidFill>
                <a:latin typeface="Segoe UI"/>
              </a:rPr>
              <a:t>DocumentPicker.getDocumentAsync({ type: 'audio/*', copyToCacheDirectory: true })</a:t>
            </a:r>
          </a:p>
          <a:p>
            <a:pPr>
              <a:spcAft>
                <a:spcPts val="700"/>
              </a:spcAft>
            </a:pPr>
            <a:r>
              <a:rPr b="1" sz="1300">
                <a:solidFill>
                  <a:srgbClr val="38BDF8"/>
                </a:solidFill>
                <a:latin typeface="Segoe UI"/>
              </a:rPr>
              <a:t>Varför i appen? </a:t>
            </a:r>
            <a:r>
              <a:rPr b="0" sz="1200">
                <a:solidFill>
                  <a:srgbClr val="D1D5DB"/>
                </a:solidFill>
                <a:latin typeface="Segoe UI"/>
              </a:rPr>
              <a:t>Gör appen flexibel för alla föreningar. Vem som helst kan importera sina egna MP3-mållåtar eller vinjetter direkt från telefonens minne in i spellistan!</a:t>
            </a:r>
          </a:p>
          <a:p>
            <a:pPr>
              <a:spcAft>
                <a:spcPts val="700"/>
              </a:spcAft>
            </a:pPr>
            <a:r>
              <a:rPr b="1" sz="1300">
                <a:solidFill>
                  <a:srgbClr val="38BDF8"/>
                </a:solidFill>
                <a:latin typeface="Segoe UI"/>
              </a:rPr>
              <a:t>Övriga Expo-paket: </a:t>
            </a:r>
            <a:r>
              <a:rPr b="0" sz="1200">
                <a:solidFill>
                  <a:srgbClr val="D1D5DB"/>
                </a:solidFill>
                <a:latin typeface="Segoe UI"/>
              </a:rPr>
              <a:t>expo-status-bar (döljer statusfält i liggande) och @expo/vector-icons för ikoner.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6858000" cy="292608"/>
          </a:xfrm>
          <a:prstGeom prst="rect">
            <a:avLst/>
          </a:prstGeom>
          <a:noFill/>
        </p:spPr>
        <p:txBody>
          <a:bodyPr wrap="square">
            <a:spAutoFit/>
          </a:bodyPr>
          <a:lstStyle/>
          <a:p>
            <a:pPr>
              <a:defRPr sz="1100" b="1">
                <a:solidFill>
                  <a:srgbClr val="38BDF8"/>
                </a:solidFill>
                <a:latin typeface="Segoe UI"/>
              </a:defRPr>
            </a:pPr>
            <a:r>
              <a:t>REACT NATIVE KOMPONENTER (KRAV)</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FFFFF"/>
                </a:solidFill>
                <a:latin typeface="Segoe UI"/>
              </a:defRPr>
            </a:pPr>
            <a:r>
              <a:t>5 st Officiella Core Components</a:t>
            </a:r>
          </a:p>
        </p:txBody>
      </p:sp>
      <p:sp>
        <p:nvSpPr>
          <p:cNvPr id="5" name="TextBox 4"/>
          <p:cNvSpPr txBox="1"/>
          <p:nvPr/>
        </p:nvSpPr>
        <p:spPr>
          <a:xfrm>
            <a:off x="731520" y="1280160"/>
            <a:ext cx="10515600" cy="347472"/>
          </a:xfrm>
          <a:prstGeom prst="rect">
            <a:avLst/>
          </a:prstGeom>
          <a:noFill/>
        </p:spPr>
        <p:txBody>
          <a:bodyPr wrap="square">
            <a:spAutoFit/>
          </a:bodyPr>
          <a:lstStyle/>
          <a:p>
            <a:pPr>
              <a:defRPr sz="1400">
                <a:solidFill>
                  <a:srgbClr val="6B7280"/>
                </a:solidFill>
                <a:latin typeface="Segoe UI"/>
              </a:defRPr>
            </a:pPr>
            <a:r>
              <a:t>Minst 4 krävs – alla importerade direkt från 'react-native'</a:t>
            </a:r>
          </a:p>
        </p:txBody>
      </p:sp>
      <p:sp>
        <p:nvSpPr>
          <p:cNvPr id="6" name="Rounded Rectangle 5"/>
          <p:cNvSpPr/>
          <p:nvPr/>
        </p:nvSpPr>
        <p:spPr>
          <a:xfrm>
            <a:off x="731520" y="1783080"/>
            <a:ext cx="5120640" cy="4480560"/>
          </a:xfrm>
          <a:prstGeom prst="roundRect">
            <a:avLst/>
          </a:prstGeom>
          <a:solidFill>
            <a:srgbClr val="111827"/>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47672"/>
            <a:ext cx="4663440" cy="4151376"/>
          </a:xfrm>
          <a:prstGeom prst="rect">
            <a:avLst/>
          </a:prstGeom>
          <a:noFill/>
        </p:spPr>
        <p:txBody>
          <a:bodyPr wrap="square">
            <a:spAutoFit/>
          </a:bodyPr>
          <a:lstStyle/>
          <a:p>
            <a:pPr>
              <a:spcAft>
                <a:spcPts val="1000"/>
              </a:spcAft>
              <a:defRPr sz="1700" b="1">
                <a:solidFill>
                  <a:srgbClr val="FFFFFF"/>
                </a:solidFill>
                <a:latin typeface="Segoe UI"/>
              </a:defRPr>
            </a:pPr>
            <a:r>
              <a:t>De 5 använda komponenterna</a:t>
            </a:r>
          </a:p>
          <a:p>
            <a:pPr>
              <a:spcAft>
                <a:spcPts val="700"/>
              </a:spcAft>
            </a:pPr>
            <a:r>
              <a:rPr b="1" sz="1300">
                <a:solidFill>
                  <a:srgbClr val="38BDF8"/>
                </a:solidFill>
                <a:latin typeface="Segoe UI"/>
              </a:rPr>
              <a:t>1. View: </a:t>
            </a:r>
            <a:r>
              <a:rPr b="0" sz="1200">
                <a:solidFill>
                  <a:srgbClr val="D1D5DB"/>
                </a:solidFill>
                <a:latin typeface="Segoe UI"/>
              </a:rPr>
              <a:t>Byggstenen för layout, behållare och flexbox-struktur på samtliga vyer.</a:t>
            </a:r>
          </a:p>
          <a:p>
            <a:pPr>
              <a:spcAft>
                <a:spcPts val="700"/>
              </a:spcAft>
            </a:pPr>
            <a:r>
              <a:rPr b="1" sz="1300">
                <a:solidFill>
                  <a:srgbClr val="38BDF8"/>
                </a:solidFill>
                <a:latin typeface="Segoe UI"/>
              </a:rPr>
              <a:t>2. Text: </a:t>
            </a:r>
            <a:r>
              <a:rPr b="0" sz="1200">
                <a:solidFill>
                  <a:srgbClr val="D1D5DB"/>
                </a:solidFill>
                <a:latin typeface="Segoe UI"/>
              </a:rPr>
              <a:t>Renderar all text: titlar, låttider, frågetext och knappetiketter.</a:t>
            </a:r>
          </a:p>
          <a:p>
            <a:pPr>
              <a:spcAft>
                <a:spcPts val="700"/>
              </a:spcAft>
            </a:pPr>
            <a:r>
              <a:rPr b="1" sz="1300">
                <a:solidFill>
                  <a:srgbClr val="38BDF8"/>
                </a:solidFill>
                <a:latin typeface="Segoe UI"/>
              </a:rPr>
              <a:t>3. Pressable: </a:t>
            </a:r>
            <a:r>
              <a:rPr b="0" sz="1200">
                <a:solidFill>
                  <a:srgbClr val="D1D5DB"/>
                </a:solidFill>
                <a:latin typeface="Segoe UI"/>
              </a:rPr>
              <a:t>Modern touch-komponent för interaktiva knappar med tryckfeedback och villkorsstyrd styling.</a:t>
            </a:r>
          </a:p>
          <a:p>
            <a:pPr>
              <a:spcAft>
                <a:spcPts val="700"/>
              </a:spcAft>
            </a:pPr>
            <a:r>
              <a:rPr b="1" sz="1300">
                <a:solidFill>
                  <a:srgbClr val="38BDF8"/>
                </a:solidFill>
                <a:latin typeface="Segoe UI"/>
              </a:rPr>
              <a:t>4. FlatList: </a:t>
            </a:r>
            <a:r>
              <a:rPr b="0" sz="1200">
                <a:solidFill>
                  <a:srgbClr val="D1D5DB"/>
                </a:solidFill>
                <a:latin typeface="Segoe UI"/>
              </a:rPr>
              <a:t>Prestandaoptimerad scrollista med virtualisering för spellistan.</a:t>
            </a:r>
          </a:p>
          <a:p>
            <a:pPr>
              <a:spcAft>
                <a:spcPts val="700"/>
              </a:spcAft>
            </a:pPr>
            <a:r>
              <a:rPr b="1" sz="1300">
                <a:solidFill>
                  <a:srgbClr val="38BDF8"/>
                </a:solidFill>
                <a:latin typeface="Segoe UI"/>
              </a:rPr>
              <a:t>5. ActivityIndicator: </a:t>
            </a:r>
            <a:r>
              <a:rPr b="0" sz="1200">
                <a:solidFill>
                  <a:srgbClr val="D1D5DB"/>
                </a:solidFill>
                <a:latin typeface="Segoe UI"/>
              </a:rPr>
              <a:t>Nativ laddningssnurra som visas medan triviafrågor hämtas över nätverket.</a:t>
            </a:r>
          </a:p>
        </p:txBody>
      </p:sp>
      <p:sp>
        <p:nvSpPr>
          <p:cNvPr id="8" name="Rounded Rectangle 7"/>
          <p:cNvSpPr/>
          <p:nvPr/>
        </p:nvSpPr>
        <p:spPr>
          <a:xfrm>
            <a:off x="6217920" y="1783080"/>
            <a:ext cx="5212080" cy="4480560"/>
          </a:xfrm>
          <a:prstGeom prst="roundRect">
            <a:avLst/>
          </a:prstGeom>
          <a:solidFill>
            <a:srgbClr val="111827"/>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47672"/>
            <a:ext cx="4754880" cy="4151376"/>
          </a:xfrm>
          <a:prstGeom prst="rect">
            <a:avLst/>
          </a:prstGeom>
          <a:noFill/>
        </p:spPr>
        <p:txBody>
          <a:bodyPr wrap="square">
            <a:spAutoFit/>
          </a:bodyPr>
          <a:lstStyle/>
          <a:p>
            <a:pPr>
              <a:spcAft>
                <a:spcPts val="1000"/>
              </a:spcAft>
              <a:defRPr sz="1700" b="1">
                <a:solidFill>
                  <a:srgbClr val="FFFFFF"/>
                </a:solidFill>
                <a:latin typeface="Segoe UI"/>
              </a:defRPr>
            </a:pPr>
            <a:r>
              <a:t>Designbeslut &amp; Gränsdragningar</a:t>
            </a:r>
          </a:p>
          <a:p>
            <a:pPr>
              <a:spcAft>
                <a:spcPts val="700"/>
              </a:spcAft>
            </a:pPr>
            <a:r>
              <a:rPr b="1" sz="1300">
                <a:solidFill>
                  <a:srgbClr val="38BDF8"/>
                </a:solidFill>
                <a:latin typeface="Segoe UI"/>
              </a:rPr>
              <a:t>Inga API:er som komponenter: </a:t>
            </a:r>
            <a:r>
              <a:rPr b="0" sz="1200">
                <a:solidFill>
                  <a:srgbClr val="D1D5DB"/>
                </a:solidFill>
                <a:latin typeface="Segoe UI"/>
              </a:rPr>
              <a:t>StyleSheet och Alert används i appen men räknas strikt som API:er enligt uppgiftsinstruktionen.</a:t>
            </a:r>
          </a:p>
          <a:p>
            <a:pPr>
              <a:spcAft>
                <a:spcPts val="700"/>
              </a:spcAft>
            </a:pPr>
            <a:r>
              <a:rPr b="1" sz="1300">
                <a:solidFill>
                  <a:srgbClr val="38BDF8"/>
                </a:solidFill>
                <a:latin typeface="Segoe UI"/>
              </a:rPr>
              <a:t>Pressable framför TouchableOpacity: </a:t>
            </a:r>
            <a:r>
              <a:rPr b="0" sz="1200">
                <a:solidFill>
                  <a:srgbClr val="D1D5DB"/>
                </a:solidFill>
                <a:latin typeface="Segoe UI"/>
              </a:rPr>
              <a:t>Pressable ger bättre respons och direkt stöd för att koordinera med haptiska vibrationer och färgskiften.</a:t>
            </a:r>
          </a:p>
          <a:p>
            <a:pPr>
              <a:spcAft>
                <a:spcPts val="700"/>
              </a:spcAft>
            </a:pPr>
            <a:r>
              <a:rPr b="1" sz="1300">
                <a:solidFill>
                  <a:srgbClr val="38BDF8"/>
                </a:solidFill>
                <a:latin typeface="Segoe UI"/>
              </a:rPr>
              <a:t>FlatList framför ScrollView: </a:t>
            </a:r>
            <a:r>
              <a:rPr b="0" sz="1200">
                <a:solidFill>
                  <a:srgbClr val="D1D5DB"/>
                </a:solidFill>
                <a:latin typeface="Segoe UI"/>
              </a:rPr>
              <a:t>Hanterar stora spellistor utan minnesläckor genom att endast rendera synliga element.</a:t>
            </a:r>
          </a:p>
          <a:p>
            <a:pPr>
              <a:spcAft>
                <a:spcPts val="700"/>
              </a:spcAft>
            </a:pPr>
            <a:r>
              <a:rPr b="1" sz="1300">
                <a:solidFill>
                  <a:srgbClr val="38BDF8"/>
                </a:solidFill>
                <a:latin typeface="Segoe UI"/>
              </a:rPr>
              <a:t>Resultat: </a:t>
            </a:r>
            <a:r>
              <a:rPr b="0" sz="1200">
                <a:solidFill>
                  <a:srgbClr val="D1D5DB"/>
                </a:solidFill>
                <a:latin typeface="Segoe UI"/>
              </a:rPr>
              <a:t>5 renodlade baskomponenter – godkända med god marginal.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6858000" cy="292608"/>
          </a:xfrm>
          <a:prstGeom prst="rect">
            <a:avLst/>
          </a:prstGeom>
          <a:noFill/>
        </p:spPr>
        <p:txBody>
          <a:bodyPr wrap="square">
            <a:spAutoFit/>
          </a:bodyPr>
          <a:lstStyle/>
          <a:p>
            <a:pPr>
              <a:defRPr sz="1100" b="1">
                <a:solidFill>
                  <a:srgbClr val="C084FC"/>
                </a:solidFill>
                <a:latin typeface="Segoe UI"/>
              </a:defRPr>
            </a:pPr>
            <a:r>
              <a:t>VÄL GODKÄNT (VG-KRAV)</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FFFFF"/>
                </a:solidFill>
                <a:latin typeface="Segoe UI"/>
              </a:defRPr>
            </a:pPr>
            <a:r>
              <a:t>AsyncStorage, Slider &amp; Web-API</a:t>
            </a:r>
          </a:p>
        </p:txBody>
      </p:sp>
      <p:sp>
        <p:nvSpPr>
          <p:cNvPr id="5" name="TextBox 4"/>
          <p:cNvSpPr txBox="1"/>
          <p:nvPr/>
        </p:nvSpPr>
        <p:spPr>
          <a:xfrm>
            <a:off x="731520" y="1280160"/>
            <a:ext cx="10515600" cy="347472"/>
          </a:xfrm>
          <a:prstGeom prst="rect">
            <a:avLst/>
          </a:prstGeom>
          <a:noFill/>
        </p:spPr>
        <p:txBody>
          <a:bodyPr wrap="square">
            <a:spAutoFit/>
          </a:bodyPr>
          <a:lstStyle/>
          <a:p>
            <a:pPr>
              <a:defRPr sz="1400">
                <a:solidFill>
                  <a:srgbClr val="6B7280"/>
                </a:solidFill>
                <a:latin typeface="Segoe UI"/>
              </a:defRPr>
            </a:pPr>
            <a:r>
              <a:t>Persistent diskminne, Community Slider och asynkront REST-API via fetch()</a:t>
            </a:r>
          </a:p>
        </p:txBody>
      </p:sp>
      <p:sp>
        <p:nvSpPr>
          <p:cNvPr id="6" name="Rounded Rectangle 5"/>
          <p:cNvSpPr/>
          <p:nvPr/>
        </p:nvSpPr>
        <p:spPr>
          <a:xfrm>
            <a:off x="731520" y="1783080"/>
            <a:ext cx="4937760" cy="4480560"/>
          </a:xfrm>
          <a:prstGeom prst="roundRect">
            <a:avLst/>
          </a:prstGeom>
          <a:solidFill>
            <a:srgbClr val="111827"/>
          </a:solidFill>
          <a:ln w="1524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47672"/>
            <a:ext cx="4480560" cy="4151376"/>
          </a:xfrm>
          <a:prstGeom prst="rect">
            <a:avLst/>
          </a:prstGeom>
          <a:noFill/>
        </p:spPr>
        <p:txBody>
          <a:bodyPr wrap="square">
            <a:spAutoFit/>
          </a:bodyPr>
          <a:lstStyle/>
          <a:p>
            <a:pPr>
              <a:spcAft>
                <a:spcPts val="1000"/>
              </a:spcAft>
              <a:defRPr sz="1700" b="1">
                <a:solidFill>
                  <a:srgbClr val="FFFFFF"/>
                </a:solidFill>
                <a:latin typeface="Segoe UI"/>
              </a:defRPr>
            </a:pPr>
            <a:r>
              <a:t>AsyncStorage &amp; Slider-Arkitektur</a:t>
            </a:r>
          </a:p>
          <a:p>
            <a:pPr>
              <a:spcAft>
                <a:spcPts val="700"/>
              </a:spcAft>
            </a:pPr>
            <a:r>
              <a:rPr b="1" sz="1300">
                <a:solidFill>
                  <a:srgbClr val="38BDF8"/>
                </a:solidFill>
                <a:latin typeface="Segoe UI"/>
              </a:rPr>
              <a:t>AsyncStorage (Diskminne): </a:t>
            </a:r>
            <a:r>
              <a:rPr b="0" sz="1200">
                <a:solidFill>
                  <a:srgbClr val="D1D5DB"/>
                </a:solidFill>
                <a:latin typeface="Segoe UI"/>
              </a:rPr>
              <a:t>Asynkron key-value-lagring av cue-points (marker_${id}), köstatus (last_break_index) och JSON-serialisering av custom_songs.</a:t>
            </a:r>
          </a:p>
          <a:p>
            <a:pPr>
              <a:spcAft>
                <a:spcPts val="700"/>
              </a:spcAft>
            </a:pPr>
            <a:r>
              <a:rPr b="1" sz="1300">
                <a:solidFill>
                  <a:srgbClr val="38BDF8"/>
                </a:solidFill>
                <a:latin typeface="Segoe UI"/>
              </a:rPr>
              <a:t>Community Slider (reactnative.directory): </a:t>
            </a:r>
            <a:r>
              <a:rPr b="0" sz="1200">
                <a:solidFill>
                  <a:srgbClr val="D1D5DB"/>
                </a:solidFill>
                <a:latin typeface="Segoe UI"/>
              </a:rPr>
              <a:t>Externt dragreglage som koordinerar cue-points med ljudmotorn:</a:t>
            </a:r>
          </a:p>
          <a:p>
            <a:pPr>
              <a:spcAft>
                <a:spcPts val="700"/>
              </a:spcAft>
            </a:pPr>
            <a:r>
              <a:rPr b="1" sz="1300">
                <a:solidFill>
                  <a:srgbClr val="38BDF8"/>
                </a:solidFill>
                <a:latin typeface="Segoe UI"/>
              </a:rPr>
              <a:t>• Dynamiskt maxvärde: </a:t>
            </a:r>
            <a:r>
              <a:rPr b="0" sz="1200">
                <a:solidFill>
                  <a:srgbClr val="D1D5DB"/>
                </a:solidFill>
                <a:latin typeface="Segoe UI"/>
              </a:rPr>
              <a:t>maximumValue sätts reaktivt efter låtens faktiska speltid via status.duration.</a:t>
            </a:r>
          </a:p>
          <a:p>
            <a:pPr>
              <a:spcAft>
                <a:spcPts val="700"/>
              </a:spcAft>
            </a:pPr>
            <a:r>
              <a:rPr b="1" sz="1300">
                <a:solidFill>
                  <a:srgbClr val="38BDF8"/>
                </a:solidFill>
                <a:latin typeface="Segoe UI"/>
              </a:rPr>
              <a:t>• Prestandaoptimering: </a:t>
            </a:r>
            <a:r>
              <a:rPr b="0" sz="1200">
                <a:solidFill>
                  <a:srgbClr val="D1D5DB"/>
                </a:solidFill>
                <a:latin typeface="Segoe UI"/>
              </a:rPr>
              <a:t>onValueChange uppdaterar siffran mjukt i realtid, medan onSlidingComplete anropar player.seekTo() först när fingret släpps – förhindrar ljudlagg och krascher!</a:t>
            </a:r>
          </a:p>
          <a:p>
            <a:pPr>
              <a:spcAft>
                <a:spcPts val="700"/>
              </a:spcAft>
            </a:pPr>
            <a:r>
              <a:rPr b="1" sz="1300">
                <a:solidFill>
                  <a:srgbClr val="38BDF8"/>
                </a:solidFill>
                <a:latin typeface="Segoe UI"/>
              </a:rPr>
              <a:t>Web-API (Open Trivia DB): </a:t>
            </a:r>
            <a:r>
              <a:rPr b="0" sz="1200">
                <a:solidFill>
                  <a:srgbClr val="D1D5DB"/>
                </a:solidFill>
                <a:latin typeface="Segoe UI"/>
              </a:rPr>
              <a:t>Hämtar sportfrågor via fetch(), avkodar URL-strängar och slumpar svarsalternativ under periodpauserna.</a:t>
            </a:r>
          </a:p>
        </p:txBody>
      </p:sp>
      <p:pic>
        <p:nvPicPr>
          <p:cNvPr id="8" name="Picture 7" descr="code_vg.png"/>
          <p:cNvPicPr>
            <a:picLocks noChangeAspect="1"/>
          </p:cNvPicPr>
          <p:nvPr/>
        </p:nvPicPr>
        <p:blipFill>
          <a:blip r:embed="rId2"/>
          <a:stretch>
            <a:fillRect/>
          </a:stretch>
        </p:blipFill>
        <p:spPr>
          <a:xfrm>
            <a:off x="5943600" y="1783080"/>
            <a:ext cx="5486400" cy="316795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6858000" cy="292608"/>
          </a:xfrm>
          <a:prstGeom prst="rect">
            <a:avLst/>
          </a:prstGeom>
          <a:noFill/>
        </p:spPr>
        <p:txBody>
          <a:bodyPr wrap="square">
            <a:spAutoFit/>
          </a:bodyPr>
          <a:lstStyle/>
          <a:p>
            <a:pPr>
              <a:defRPr sz="1100" b="1">
                <a:solidFill>
                  <a:srgbClr val="38BDF8"/>
                </a:solidFill>
                <a:latin typeface="Segoe UI"/>
              </a:defRPr>
            </a:pPr>
            <a:r>
              <a:t>ARBETSPROCESS &amp; GIT (KRAV)</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FFFFF"/>
                </a:solidFill>
                <a:latin typeface="Segoe UI"/>
              </a:defRPr>
            </a:pPr>
            <a:r>
              <a:t>Planering, Struktur och Versionshantering</a:t>
            </a:r>
          </a:p>
        </p:txBody>
      </p:sp>
      <p:sp>
        <p:nvSpPr>
          <p:cNvPr id="5" name="TextBox 4"/>
          <p:cNvSpPr txBox="1"/>
          <p:nvPr/>
        </p:nvSpPr>
        <p:spPr>
          <a:xfrm>
            <a:off x="731520" y="1280160"/>
            <a:ext cx="10515600" cy="347472"/>
          </a:xfrm>
          <a:prstGeom prst="rect">
            <a:avLst/>
          </a:prstGeom>
          <a:noFill/>
        </p:spPr>
        <p:txBody>
          <a:bodyPr wrap="square">
            <a:spAutoFit/>
          </a:bodyPr>
          <a:lstStyle/>
          <a:p>
            <a:pPr>
              <a:defRPr sz="1400">
                <a:solidFill>
                  <a:srgbClr val="6B7280"/>
                </a:solidFill>
                <a:latin typeface="Segoe UI"/>
              </a:defRPr>
            </a:pPr>
            <a:r>
              <a:t>Agilt arbetssätt, mobil-först och kontinuerliga commits på GitHub</a:t>
            </a:r>
          </a:p>
        </p:txBody>
      </p:sp>
      <p:sp>
        <p:nvSpPr>
          <p:cNvPr id="6" name="Rounded Rectangle 5"/>
          <p:cNvSpPr/>
          <p:nvPr/>
        </p:nvSpPr>
        <p:spPr>
          <a:xfrm>
            <a:off x="731520" y="1783080"/>
            <a:ext cx="5120640" cy="4480560"/>
          </a:xfrm>
          <a:prstGeom prst="roundRect">
            <a:avLst/>
          </a:prstGeom>
          <a:solidFill>
            <a:srgbClr val="111827"/>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47672"/>
            <a:ext cx="4663440" cy="4151376"/>
          </a:xfrm>
          <a:prstGeom prst="rect">
            <a:avLst/>
          </a:prstGeom>
          <a:noFill/>
        </p:spPr>
        <p:txBody>
          <a:bodyPr wrap="square">
            <a:spAutoFit/>
          </a:bodyPr>
          <a:lstStyle/>
          <a:p>
            <a:pPr>
              <a:spcAft>
                <a:spcPts val="1000"/>
              </a:spcAft>
              <a:defRPr sz="1700" b="1">
                <a:solidFill>
                  <a:srgbClr val="FFFFFF"/>
                </a:solidFill>
                <a:latin typeface="Segoe UI"/>
              </a:defRPr>
            </a:pPr>
            <a:r>
              <a:t>Arbetsprocess &amp; Metod</a:t>
            </a:r>
          </a:p>
          <a:p>
            <a:pPr>
              <a:spcAft>
                <a:spcPts val="700"/>
              </a:spcAft>
            </a:pPr>
            <a:r>
              <a:rPr b="1" sz="1300">
                <a:solidFill>
                  <a:srgbClr val="38BDF8"/>
                </a:solidFill>
                <a:latin typeface="Segoe UI"/>
              </a:rPr>
              <a:t>Problemcentrerad design: </a:t>
            </a:r>
            <a:r>
              <a:rPr b="0" sz="1200">
                <a:solidFill>
                  <a:srgbClr val="D1D5DB"/>
                </a:solidFill>
                <a:latin typeface="Segoe UI"/>
              </a:rPr>
              <a:t>Utgick från den fysiska situationen i sekretariatet och designade gränssnittet efter snabbhet och enkelhet.</a:t>
            </a:r>
          </a:p>
          <a:p>
            <a:pPr>
              <a:spcAft>
                <a:spcPts val="700"/>
              </a:spcAft>
            </a:pPr>
            <a:r>
              <a:rPr b="1" sz="1300">
                <a:solidFill>
                  <a:srgbClr val="38BDF8"/>
                </a:solidFill>
                <a:latin typeface="Segoe UI"/>
              </a:rPr>
              <a:t>TypeScript-first: </a:t>
            </a:r>
            <a:r>
              <a:rPr b="0" sz="1200">
                <a:solidFill>
                  <a:srgbClr val="D1D5DB"/>
                </a:solidFill>
                <a:latin typeface="Segoe UI"/>
              </a:rPr>
              <a:t>Definierade tidigt interfaces för SoundTrack och kategorier i src/sounds.ts för strikt typkontroll.</a:t>
            </a:r>
          </a:p>
          <a:p>
            <a:pPr>
              <a:spcAft>
                <a:spcPts val="700"/>
              </a:spcAft>
            </a:pPr>
            <a:r>
              <a:rPr b="1" sz="1300">
                <a:solidFill>
                  <a:srgbClr val="38BDF8"/>
                </a:solidFill>
                <a:latin typeface="Segoe UI"/>
              </a:rPr>
              <a:t>Mobil-först med Expo Go: </a:t>
            </a:r>
            <a:r>
              <a:rPr b="0" sz="1200">
                <a:solidFill>
                  <a:srgbClr val="D1D5DB"/>
                </a:solidFill>
                <a:latin typeface="Segoe UI"/>
              </a:rPr>
              <a:t>Testade löpande på fysisk telefon under hela utvecklingen för att kalibrera haptik och rotation.</a:t>
            </a:r>
          </a:p>
          <a:p>
            <a:pPr>
              <a:spcAft>
                <a:spcPts val="700"/>
              </a:spcAft>
            </a:pPr>
            <a:r>
              <a:rPr b="1" sz="1300">
                <a:solidFill>
                  <a:srgbClr val="38BDF8"/>
                </a:solidFill>
                <a:latin typeface="Segoe UI"/>
              </a:rPr>
              <a:t>Kvalitetskontroller: </a:t>
            </a:r>
            <a:r>
              <a:rPr b="0" sz="1200">
                <a:solidFill>
                  <a:srgbClr val="D1D5DB"/>
                </a:solidFill>
                <a:latin typeface="Segoe UI"/>
              </a:rPr>
              <a:t>Körde regelbundet 'npx tsc --noEmit' och 'npx expo lint' för att hålla koden ren från buggar.</a:t>
            </a:r>
          </a:p>
        </p:txBody>
      </p:sp>
      <p:sp>
        <p:nvSpPr>
          <p:cNvPr id="8" name="Rounded Rectangle 7"/>
          <p:cNvSpPr/>
          <p:nvPr/>
        </p:nvSpPr>
        <p:spPr>
          <a:xfrm>
            <a:off x="6217920" y="1783080"/>
            <a:ext cx="5212080" cy="4480560"/>
          </a:xfrm>
          <a:prstGeom prst="roundRect">
            <a:avLst/>
          </a:prstGeom>
          <a:solidFill>
            <a:srgbClr val="111827"/>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47672"/>
            <a:ext cx="4754880" cy="4151376"/>
          </a:xfrm>
          <a:prstGeom prst="rect">
            <a:avLst/>
          </a:prstGeom>
          <a:noFill/>
        </p:spPr>
        <p:txBody>
          <a:bodyPr wrap="square">
            <a:spAutoFit/>
          </a:bodyPr>
          <a:lstStyle/>
          <a:p>
            <a:pPr>
              <a:spcAft>
                <a:spcPts val="1000"/>
              </a:spcAft>
              <a:defRPr sz="1700" b="1">
                <a:solidFill>
                  <a:srgbClr val="FFFFFF"/>
                </a:solidFill>
                <a:latin typeface="Segoe UI"/>
              </a:defRPr>
            </a:pPr>
            <a:r>
              <a:t>Git &amp; GitHub-historik</a:t>
            </a:r>
          </a:p>
          <a:p>
            <a:pPr>
              <a:spcAft>
                <a:spcPts val="700"/>
              </a:spcAft>
            </a:pPr>
            <a:r>
              <a:rPr b="1" sz="1300">
                <a:solidFill>
                  <a:srgbClr val="38BDF8"/>
                </a:solidFill>
                <a:latin typeface="Segoe UI"/>
              </a:rPr>
              <a:t>Löpande commits (G-krav): </a:t>
            </a:r>
            <a:r>
              <a:rPr b="0" sz="1200">
                <a:solidFill>
                  <a:srgbClr val="D1D5DB"/>
                </a:solidFill>
                <a:latin typeface="Segoe UI"/>
              </a:rPr>
              <a:t>Commits är spridda över hela utvecklingsperioden, inte allt i en klump på slutet.</a:t>
            </a:r>
          </a:p>
          <a:p>
            <a:pPr>
              <a:spcAft>
                <a:spcPts val="700"/>
              </a:spcAft>
            </a:pPr>
            <a:r>
              <a:rPr b="1" sz="1300">
                <a:solidFill>
                  <a:srgbClr val="38BDF8"/>
                </a:solidFill>
                <a:latin typeface="Segoe UI"/>
              </a:rPr>
              <a:t>Beskrivande historik: </a:t>
            </a:r>
            <a:r>
              <a:rPr b="0" sz="1200">
                <a:solidFill>
                  <a:srgbClr val="D1D5DB"/>
                </a:solidFill>
                <a:latin typeface="Segoe UI"/>
              </a:rPr>
              <a:t>Varje commit har ett tydligt syfte – t.ex. layout, AsyncStorage, expo-audio och API-koppling.</a:t>
            </a:r>
          </a:p>
          <a:p>
            <a:pPr>
              <a:spcAft>
                <a:spcPts val="700"/>
              </a:spcAft>
            </a:pPr>
            <a:r>
              <a:rPr b="1" sz="1300">
                <a:solidFill>
                  <a:srgbClr val="38BDF8"/>
                </a:solidFill>
                <a:latin typeface="Segoe UI"/>
              </a:rPr>
              <a:t>Publikt repo på GitHub: </a:t>
            </a:r>
            <a:r>
              <a:rPr b="0" sz="1200">
                <a:solidFill>
                  <a:srgbClr val="D1D5DB"/>
                </a:solidFill>
                <a:latin typeface="Segoe UI"/>
              </a:rPr>
              <a:t>Olausson44/AppInl-mning1 med full historik.</a:t>
            </a:r>
          </a:p>
          <a:p>
            <a:pPr>
              <a:spcAft>
                <a:spcPts val="700"/>
              </a:spcAft>
            </a:pPr>
            <a:r>
              <a:rPr b="1" sz="1300">
                <a:solidFill>
                  <a:srgbClr val="38BDF8"/>
                </a:solidFill>
                <a:latin typeface="Segoe UI"/>
              </a:rPr>
              <a:t>Korrekt inlämning: </a:t>
            </a:r>
            <a:r>
              <a:rPr b="0" sz="1200">
                <a:solidFill>
                  <a:srgbClr val="D1D5DB"/>
                </a:solidFill>
                <a:latin typeface="Segoe UI"/>
              </a:rPr>
              <a:t>Zippat med .git-mappen intakt och node_modules uteslutet.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6858000" cy="292608"/>
          </a:xfrm>
          <a:prstGeom prst="rect">
            <a:avLst/>
          </a:prstGeom>
          <a:noFill/>
        </p:spPr>
        <p:txBody>
          <a:bodyPr wrap="square">
            <a:spAutoFit/>
          </a:bodyPr>
          <a:lstStyle/>
          <a:p>
            <a:pPr>
              <a:defRPr sz="1100" b="1">
                <a:solidFill>
                  <a:srgbClr val="FB923C"/>
                </a:solidFill>
                <a:latin typeface="Segoe UI"/>
              </a:defRPr>
            </a:pPr>
            <a:r>
              <a:t>REFLEKTION &amp; AI-ANVÄNDNING (KRAV)</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FFFFF"/>
                </a:solidFill>
                <a:latin typeface="Segoe UI"/>
              </a:defRPr>
            </a:pPr>
            <a:r>
              <a:t>Utmaningar, Lärdomar &amp; AI som Partner</a:t>
            </a:r>
          </a:p>
        </p:txBody>
      </p:sp>
      <p:sp>
        <p:nvSpPr>
          <p:cNvPr id="5" name="TextBox 4"/>
          <p:cNvSpPr txBox="1"/>
          <p:nvPr/>
        </p:nvSpPr>
        <p:spPr>
          <a:xfrm>
            <a:off x="731520" y="1280160"/>
            <a:ext cx="10515600" cy="347472"/>
          </a:xfrm>
          <a:prstGeom prst="rect">
            <a:avLst/>
          </a:prstGeom>
          <a:noFill/>
        </p:spPr>
        <p:txBody>
          <a:bodyPr wrap="square">
            <a:spAutoFit/>
          </a:bodyPr>
          <a:lstStyle/>
          <a:p>
            <a:pPr>
              <a:defRPr sz="1400">
                <a:solidFill>
                  <a:srgbClr val="6B7280"/>
                </a:solidFill>
                <a:latin typeface="Segoe UI"/>
              </a:defRPr>
            </a:pPr>
            <a:r>
              <a:t>Ärlig analys av svårigheter samt dokumentation av AI-verktyg</a:t>
            </a:r>
          </a:p>
        </p:txBody>
      </p:sp>
      <p:sp>
        <p:nvSpPr>
          <p:cNvPr id="6" name="Rounded Rectangle 5"/>
          <p:cNvSpPr/>
          <p:nvPr/>
        </p:nvSpPr>
        <p:spPr>
          <a:xfrm>
            <a:off x="731520" y="1783080"/>
            <a:ext cx="5120640" cy="4480560"/>
          </a:xfrm>
          <a:prstGeom prst="roundRect">
            <a:avLst/>
          </a:prstGeom>
          <a:solidFill>
            <a:srgbClr val="111827"/>
          </a:solidFill>
          <a:ln w="1524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47672"/>
            <a:ext cx="4663440" cy="4151376"/>
          </a:xfrm>
          <a:prstGeom prst="rect">
            <a:avLst/>
          </a:prstGeom>
          <a:noFill/>
        </p:spPr>
        <p:txBody>
          <a:bodyPr wrap="square">
            <a:spAutoFit/>
          </a:bodyPr>
          <a:lstStyle/>
          <a:p>
            <a:pPr>
              <a:spcAft>
                <a:spcPts val="1000"/>
              </a:spcAft>
              <a:defRPr sz="1700" b="1">
                <a:solidFill>
                  <a:srgbClr val="FFFFFF"/>
                </a:solidFill>
                <a:latin typeface="Segoe UI"/>
              </a:defRPr>
            </a:pPr>
            <a:r>
              <a:t>Reflektion &amp; Utmaningar</a:t>
            </a:r>
          </a:p>
          <a:p>
            <a:pPr>
              <a:spcAft>
                <a:spcPts val="700"/>
              </a:spcAft>
            </a:pPr>
            <a:r>
              <a:rPr b="1" sz="1300">
                <a:solidFill>
                  <a:srgbClr val="38BDF8"/>
                </a:solidFill>
                <a:latin typeface="Segoe UI"/>
              </a:rPr>
              <a:t>Utmaning: Nya expo-audio: </a:t>
            </a:r>
            <a:r>
              <a:rPr b="0" sz="1200">
                <a:solidFill>
                  <a:srgbClr val="D1D5DB"/>
                </a:solidFill>
                <a:latin typeface="Segoe UI"/>
              </a:rPr>
              <a:t>Eftersom modulen är helt ny i SDK 52 saknades äldre forumtrådar. Att synka seekTo och replace krävde noggrann analys.</a:t>
            </a:r>
          </a:p>
          <a:p>
            <a:pPr>
              <a:spcAft>
                <a:spcPts val="700"/>
              </a:spcAft>
            </a:pPr>
            <a:r>
              <a:rPr b="1" sz="1300">
                <a:solidFill>
                  <a:srgbClr val="38BDF8"/>
                </a:solidFill>
                <a:latin typeface="Segoe UI"/>
              </a:rPr>
              <a:t>Utmaning: Skärmrotation: </a:t>
            </a:r>
            <a:r>
              <a:rPr b="0" sz="1200">
                <a:solidFill>
                  <a:srgbClr val="D1D5DB"/>
                </a:solidFill>
                <a:latin typeface="Segoe UI"/>
              </a:rPr>
              <a:t>Att växla orientering mellan flikar utan UI-blinkningar löstes genom ren användning av useFocusEffect.</a:t>
            </a:r>
          </a:p>
          <a:p>
            <a:pPr>
              <a:spcAft>
                <a:spcPts val="700"/>
              </a:spcAft>
            </a:pPr>
            <a:r>
              <a:rPr b="1" sz="1300">
                <a:solidFill>
                  <a:srgbClr val="38BDF8"/>
                </a:solidFill>
                <a:latin typeface="Segoe UI"/>
              </a:rPr>
              <a:t>Vad jag skulle gjort annorlunda: </a:t>
            </a:r>
            <a:r>
              <a:rPr b="0" sz="1200">
                <a:solidFill>
                  <a:srgbClr val="D1D5DB"/>
                </a:solidFill>
                <a:latin typeface="Segoe UI"/>
              </a:rPr>
              <a:t>Lagrat spelaren i en global Audio Context så att musiken hade kunnat fortsätta rulla i bakgrunden vid flikbyte.</a:t>
            </a:r>
          </a:p>
          <a:p>
            <a:pPr>
              <a:spcAft>
                <a:spcPts val="700"/>
              </a:spcAft>
            </a:pPr>
            <a:r>
              <a:rPr b="1" sz="1300">
                <a:solidFill>
                  <a:srgbClr val="38BDF8"/>
                </a:solidFill>
                <a:latin typeface="Segoe UI"/>
              </a:rPr>
              <a:t>Viktigaste lärdomen: </a:t>
            </a:r>
            <a:r>
              <a:rPr b="0" sz="1200">
                <a:solidFill>
                  <a:srgbClr val="D1D5DB"/>
                </a:solidFill>
                <a:latin typeface="Segoe UI"/>
              </a:rPr>
              <a:t>Hårdvarunära funktioner (haptik, rotation, minne) gör en enorm skillnad för användarupplevelsen på mobil.</a:t>
            </a:r>
          </a:p>
        </p:txBody>
      </p:sp>
      <p:sp>
        <p:nvSpPr>
          <p:cNvPr id="8" name="Rounded Rectangle 7"/>
          <p:cNvSpPr/>
          <p:nvPr/>
        </p:nvSpPr>
        <p:spPr>
          <a:xfrm>
            <a:off x="6217920" y="1783080"/>
            <a:ext cx="5212080" cy="4480560"/>
          </a:xfrm>
          <a:prstGeom prst="roundRect">
            <a:avLst/>
          </a:prstGeom>
          <a:solidFill>
            <a:srgbClr val="111827"/>
          </a:solidFill>
          <a:ln w="1524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47672"/>
            <a:ext cx="4754880" cy="4151376"/>
          </a:xfrm>
          <a:prstGeom prst="rect">
            <a:avLst/>
          </a:prstGeom>
          <a:noFill/>
        </p:spPr>
        <p:txBody>
          <a:bodyPr wrap="square">
            <a:spAutoFit/>
          </a:bodyPr>
          <a:lstStyle/>
          <a:p>
            <a:pPr>
              <a:spcAft>
                <a:spcPts val="1000"/>
              </a:spcAft>
              <a:defRPr sz="1700" b="1">
                <a:solidFill>
                  <a:srgbClr val="FFFFFF"/>
                </a:solidFill>
                <a:latin typeface="Segoe UI"/>
              </a:defRPr>
            </a:pPr>
            <a:r>
              <a:t>Användning av AI (VG-Krav)</a:t>
            </a:r>
          </a:p>
          <a:p>
            <a:pPr>
              <a:spcAft>
                <a:spcPts val="700"/>
              </a:spcAft>
            </a:pPr>
            <a:r>
              <a:rPr b="1" sz="1300">
                <a:solidFill>
                  <a:srgbClr val="38BDF8"/>
                </a:solidFill>
                <a:latin typeface="Segoe UI"/>
              </a:rPr>
              <a:t>Verktyg: </a:t>
            </a:r>
            <a:r>
              <a:rPr b="0" sz="1200">
                <a:solidFill>
                  <a:srgbClr val="D1D5DB"/>
                </a:solidFill>
                <a:latin typeface="Segoe UI"/>
              </a:rPr>
              <a:t>Antigravity (med Claude-modeller) som tekniskt bollplank och parprogrammerare.</a:t>
            </a:r>
          </a:p>
          <a:p>
            <a:pPr>
              <a:spcAft>
                <a:spcPts val="700"/>
              </a:spcAft>
            </a:pPr>
            <a:r>
              <a:rPr b="1" sz="1300">
                <a:solidFill>
                  <a:srgbClr val="38BDF8"/>
                </a:solidFill>
                <a:latin typeface="Segoe UI"/>
              </a:rPr>
              <a:t>Vad AI användes till: </a:t>
            </a:r>
            <a:r>
              <a:rPr b="0" sz="1200">
                <a:solidFill>
                  <a:srgbClr val="D1D5DB"/>
                </a:solidFill>
                <a:latin typeface="Segoe UI"/>
              </a:rPr>
              <a:t>För att snabbt förstå API-ytan i nya expo-audio och bolla städmönster vid sidfokus (useFocusEffect).</a:t>
            </a:r>
          </a:p>
          <a:p>
            <a:pPr>
              <a:spcAft>
                <a:spcPts val="700"/>
              </a:spcAft>
            </a:pPr>
            <a:r>
              <a:rPr b="1" sz="1300">
                <a:solidFill>
                  <a:srgbClr val="38BDF8"/>
                </a:solidFill>
                <a:latin typeface="Segoe UI"/>
              </a:rPr>
              <a:t>Hur koden verifierats: </a:t>
            </a:r>
            <a:r>
              <a:rPr b="0" sz="1200">
                <a:solidFill>
                  <a:srgbClr val="D1D5DB"/>
                </a:solidFill>
                <a:latin typeface="Segoe UI"/>
              </a:rPr>
              <a:t>Full förståelse för varje rad enligt kursregeln. Verifierat via 'tsc --noEmit', 'expo lint' och skarpa tester på mobilen.</a:t>
            </a:r>
          </a:p>
          <a:p>
            <a:pPr>
              <a:spcAft>
                <a:spcPts val="700"/>
              </a:spcAft>
            </a:pPr>
            <a:r>
              <a:rPr b="1" sz="1300">
                <a:solidFill>
                  <a:srgbClr val="38BDF8"/>
                </a:solidFill>
                <a:latin typeface="Segoe UI"/>
              </a:rPr>
              <a:t>Resultat: </a:t>
            </a:r>
            <a:r>
              <a:rPr b="0" sz="1200">
                <a:solidFill>
                  <a:srgbClr val="D1D5DB"/>
                </a:solidFill>
                <a:latin typeface="Segoe UI"/>
              </a:rPr>
              <a:t>Snabbare problemlösning med full personlig kodkontroll.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20624"/>
            <a:ext cx="6858000" cy="292608"/>
          </a:xfrm>
          <a:prstGeom prst="rect">
            <a:avLst/>
          </a:prstGeom>
          <a:noFill/>
        </p:spPr>
        <p:txBody>
          <a:bodyPr wrap="square">
            <a:spAutoFit/>
          </a:bodyPr>
          <a:lstStyle/>
          <a:p>
            <a:pPr>
              <a:defRPr sz="1100" b="1">
                <a:solidFill>
                  <a:srgbClr val="34D399"/>
                </a:solidFill>
                <a:latin typeface="Segoe UI"/>
              </a:defRPr>
            </a:pPr>
            <a:r>
              <a:t>SAMMANFATTNING &amp; AVSLUTNING</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FFFFF"/>
                </a:solidFill>
                <a:latin typeface="Segoe UI"/>
              </a:defRPr>
            </a:pPr>
            <a:r>
              <a:t>Uppfyllda Krav &amp; Frågestund</a:t>
            </a:r>
          </a:p>
        </p:txBody>
      </p:sp>
      <p:sp>
        <p:nvSpPr>
          <p:cNvPr id="5" name="TextBox 4"/>
          <p:cNvSpPr txBox="1"/>
          <p:nvPr/>
        </p:nvSpPr>
        <p:spPr>
          <a:xfrm>
            <a:off x="731520" y="1280160"/>
            <a:ext cx="10515600" cy="347472"/>
          </a:xfrm>
          <a:prstGeom prst="rect">
            <a:avLst/>
          </a:prstGeom>
          <a:noFill/>
        </p:spPr>
        <p:txBody>
          <a:bodyPr wrap="square">
            <a:spAutoFit/>
          </a:bodyPr>
          <a:lstStyle/>
          <a:p>
            <a:pPr>
              <a:defRPr sz="1400">
                <a:solidFill>
                  <a:srgbClr val="6B7280"/>
                </a:solidFill>
                <a:latin typeface="Segoe UI"/>
              </a:defRPr>
            </a:pPr>
            <a:r>
              <a:t>En sammanfattning av resultatet och öppning för frågor</a:t>
            </a:r>
          </a:p>
        </p:txBody>
      </p:sp>
      <p:sp>
        <p:nvSpPr>
          <p:cNvPr id="6" name="Rounded Rectangle 5"/>
          <p:cNvSpPr/>
          <p:nvPr/>
        </p:nvSpPr>
        <p:spPr>
          <a:xfrm>
            <a:off x="731520" y="1783080"/>
            <a:ext cx="5120640" cy="4480560"/>
          </a:xfrm>
          <a:prstGeom prst="roundRect">
            <a:avLst/>
          </a:prstGeom>
          <a:solidFill>
            <a:srgbClr val="111827"/>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47672"/>
            <a:ext cx="4663440" cy="4151376"/>
          </a:xfrm>
          <a:prstGeom prst="rect">
            <a:avLst/>
          </a:prstGeom>
          <a:noFill/>
        </p:spPr>
        <p:txBody>
          <a:bodyPr wrap="square">
            <a:spAutoFit/>
          </a:bodyPr>
          <a:lstStyle/>
          <a:p>
            <a:pPr>
              <a:spcAft>
                <a:spcPts val="1000"/>
              </a:spcAft>
              <a:defRPr sz="1700" b="1">
                <a:solidFill>
                  <a:srgbClr val="FFFFFF"/>
                </a:solidFill>
                <a:latin typeface="Segoe UI"/>
              </a:defRPr>
            </a:pPr>
            <a:r>
              <a:t>Uppfyllda Krav för Godkänt (G)</a:t>
            </a:r>
          </a:p>
          <a:p>
            <a:pPr>
              <a:spcAft>
                <a:spcPts val="700"/>
              </a:spcAft>
            </a:pPr>
            <a:r>
              <a:rPr b="1" sz="1300">
                <a:solidFill>
                  <a:srgbClr val="38BDF8"/>
                </a:solidFill>
                <a:latin typeface="Segoe UI"/>
              </a:rPr>
              <a:t>5 RN-komponenter: </a:t>
            </a:r>
            <a:r>
              <a:rPr b="0" sz="1200">
                <a:solidFill>
                  <a:srgbClr val="D1D5DB"/>
                </a:solidFill>
                <a:latin typeface="Segoe UI"/>
              </a:rPr>
              <a:t>View, Text, Pressable, FlatList, ActivityIndicator.</a:t>
            </a:r>
          </a:p>
          <a:p>
            <a:pPr>
              <a:spcAft>
                <a:spcPts val="700"/>
              </a:spcAft>
            </a:pPr>
            <a:r>
              <a:rPr b="1" sz="1300">
                <a:solidFill>
                  <a:srgbClr val="38BDF8"/>
                </a:solidFill>
                <a:latin typeface="Segoe UI"/>
              </a:rPr>
              <a:t>4 Expo SDK-moduler: </a:t>
            </a:r>
            <a:r>
              <a:rPr b="0" sz="1200">
                <a:solidFill>
                  <a:srgbClr val="D1D5DB"/>
                </a:solidFill>
                <a:latin typeface="Segoe UI"/>
              </a:rPr>
              <a:t>Fokus på expo-audio &amp; screen-orientation, kompletterat med haptics &amp; document-picker.</a:t>
            </a:r>
          </a:p>
          <a:p>
            <a:pPr>
              <a:spcAft>
                <a:spcPts val="700"/>
              </a:spcAft>
            </a:pPr>
            <a:r>
              <a:rPr b="1" sz="1300">
                <a:solidFill>
                  <a:srgbClr val="38BDF8"/>
                </a:solidFill>
                <a:latin typeface="Segoe UI"/>
              </a:rPr>
              <a:t>Expo Router: </a:t>
            </a:r>
            <a:r>
              <a:rPr b="0" sz="1200">
                <a:solidFill>
                  <a:srgbClr val="D1D5DB"/>
                </a:solidFill>
                <a:latin typeface="Segoe UI"/>
              </a:rPr>
              <a:t>Filbaserad routing med parametriserad detaljvy (/song/[id]).</a:t>
            </a:r>
          </a:p>
          <a:p>
            <a:pPr>
              <a:spcAft>
                <a:spcPts val="700"/>
              </a:spcAft>
            </a:pPr>
            <a:r>
              <a:rPr b="1" sz="1300">
                <a:solidFill>
                  <a:srgbClr val="38BDF8"/>
                </a:solidFill>
                <a:latin typeface="Segoe UI"/>
              </a:rPr>
              <a:t>Git &amp; GitHub: </a:t>
            </a:r>
            <a:r>
              <a:rPr b="0" sz="1200">
                <a:solidFill>
                  <a:srgbClr val="D1D5DB"/>
                </a:solidFill>
                <a:latin typeface="Segoe UI"/>
              </a:rPr>
              <a:t>Löpande commit-historik i publikt repo.</a:t>
            </a:r>
          </a:p>
          <a:p>
            <a:pPr>
              <a:spcAft>
                <a:spcPts val="700"/>
              </a:spcAft>
            </a:pPr>
            <a:r>
              <a:rPr b="1" sz="1300">
                <a:solidFill>
                  <a:srgbClr val="38BDF8"/>
                </a:solidFill>
                <a:latin typeface="Segoe UI"/>
              </a:rPr>
              <a:t>Dokumentation: </a:t>
            </a:r>
            <a:r>
              <a:rPr b="0" sz="1200">
                <a:solidFill>
                  <a:srgbClr val="D1D5DB"/>
                </a:solidFill>
                <a:latin typeface="Segoe UI"/>
              </a:rPr>
              <a:t>Fullständig README.md med instruktioner.</a:t>
            </a:r>
          </a:p>
        </p:txBody>
      </p:sp>
      <p:sp>
        <p:nvSpPr>
          <p:cNvPr id="8" name="Rounded Rectangle 7"/>
          <p:cNvSpPr/>
          <p:nvPr/>
        </p:nvSpPr>
        <p:spPr>
          <a:xfrm>
            <a:off x="6217920" y="1783080"/>
            <a:ext cx="5212080" cy="4480560"/>
          </a:xfrm>
          <a:prstGeom prst="roundRect">
            <a:avLst/>
          </a:prstGeom>
          <a:solidFill>
            <a:srgbClr val="111827"/>
          </a:solidFill>
          <a:ln w="1524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47672"/>
            <a:ext cx="4754880" cy="4151376"/>
          </a:xfrm>
          <a:prstGeom prst="rect">
            <a:avLst/>
          </a:prstGeom>
          <a:noFill/>
        </p:spPr>
        <p:txBody>
          <a:bodyPr wrap="square">
            <a:spAutoFit/>
          </a:bodyPr>
          <a:lstStyle/>
          <a:p>
            <a:pPr>
              <a:spcAft>
                <a:spcPts val="1000"/>
              </a:spcAft>
              <a:defRPr sz="1700" b="1">
                <a:solidFill>
                  <a:srgbClr val="FFFFFF"/>
                </a:solidFill>
                <a:latin typeface="Segoe UI"/>
              </a:defRPr>
            </a:pPr>
            <a:r>
              <a:t>Uppfyllda Krav för VG</a:t>
            </a:r>
          </a:p>
          <a:p>
            <a:pPr>
              <a:spcAft>
                <a:spcPts val="700"/>
              </a:spcAft>
            </a:pPr>
            <a:r>
              <a:rPr b="1" sz="1300">
                <a:solidFill>
                  <a:srgbClr val="38BDF8"/>
                </a:solidFill>
                <a:latin typeface="Segoe UI"/>
              </a:rPr>
              <a:t>Externa moduler: </a:t>
            </a:r>
            <a:r>
              <a:rPr b="0" sz="1200">
                <a:solidFill>
                  <a:srgbClr val="D1D5DB"/>
                </a:solidFill>
                <a:latin typeface="Segoe UI"/>
              </a:rPr>
              <a:t>AsyncStorage &amp; Community Slider från reactnative.directory.</a:t>
            </a:r>
          </a:p>
          <a:p>
            <a:pPr>
              <a:spcAft>
                <a:spcPts val="700"/>
              </a:spcAft>
            </a:pPr>
            <a:r>
              <a:rPr b="1" sz="1300">
                <a:solidFill>
                  <a:srgbClr val="38BDF8"/>
                </a:solidFill>
                <a:latin typeface="Segoe UI"/>
              </a:rPr>
              <a:t>Web-API: </a:t>
            </a:r>
            <a:r>
              <a:rPr b="0" sz="1200">
                <a:solidFill>
                  <a:srgbClr val="D1D5DB"/>
                </a:solidFill>
                <a:latin typeface="Segoe UI"/>
              </a:rPr>
              <a:t>Open Trivia Database integrerat via fetch() i trivia.tsx.</a:t>
            </a:r>
          </a:p>
          <a:p>
            <a:pPr>
              <a:spcAft>
                <a:spcPts val="700"/>
              </a:spcAft>
            </a:pPr>
            <a:r>
              <a:rPr b="1" sz="1300">
                <a:solidFill>
                  <a:srgbClr val="38BDF8"/>
                </a:solidFill>
                <a:latin typeface="Segoe UI"/>
              </a:rPr>
              <a:t>AI-dokumentation: </a:t>
            </a:r>
            <a:r>
              <a:rPr b="0" sz="1200">
                <a:solidFill>
                  <a:srgbClr val="D1D5DB"/>
                </a:solidFill>
                <a:latin typeface="Segoe UI"/>
              </a:rPr>
              <a:t>Fullständigt redogjord i README och presentation.</a:t>
            </a:r>
          </a:p>
          <a:p>
            <a:pPr>
              <a:spcAft>
                <a:spcPts val="700"/>
              </a:spcAft>
            </a:pPr>
            <a:r>
              <a:rPr b="1" sz="1300">
                <a:solidFill>
                  <a:srgbClr val="38BDF8"/>
                </a:solidFill>
                <a:latin typeface="Segoe UI"/>
              </a:rPr>
              <a:t>Slutsats: </a:t>
            </a:r>
            <a:r>
              <a:rPr b="0" sz="1200">
                <a:solidFill>
                  <a:srgbClr val="D1D5DB"/>
                </a:solidFill>
                <a:latin typeface="Segoe UI"/>
              </a:rPr>
              <a:t>En funktionell app som löser ett verkligt problem under innebandymatcher!</a:t>
            </a:r>
          </a:p>
          <a:p>
            <a:pPr>
              <a:spcAft>
                <a:spcPts val="700"/>
              </a:spcAft>
            </a:pPr>
            <a:r>
              <a:rPr b="1" sz="1300">
                <a:solidFill>
                  <a:srgbClr val="38BDF8"/>
                </a:solidFill>
                <a:latin typeface="Segoe UI"/>
              </a:rPr>
              <a:t>🎤 Frågor? </a:t>
            </a:r>
            <a:r>
              <a:rPr b="0" sz="1200">
                <a:solidFill>
                  <a:srgbClr val="D1D5DB"/>
                </a:solidFill>
                <a:latin typeface="Segoe UI"/>
              </a:rPr>
              <a:t>Tack för att ni lyssnade! Vad har ni för frågor?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